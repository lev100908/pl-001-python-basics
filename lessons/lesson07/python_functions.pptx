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6"/>
  </p:notesMasterIdLst>
  <p:sldIdLst>
    <p:sldId id="256" r:id="rId3"/>
    <p:sldId id="257" r:id="rId4"/>
    <p:sldId id="258" r:id="rId5"/>
    <p:sldId id="259" r:id="rId6"/>
    <p:sldId id="260" r:id="rId7"/>
    <p:sldId id="262" r:id="rId8"/>
    <p:sldId id="266" r:id="rId9"/>
    <p:sldId id="267" r:id="rId10"/>
    <p:sldId id="268" r:id="rId11"/>
    <p:sldId id="269" r:id="rId12"/>
    <p:sldId id="271" r:id="rId13"/>
    <p:sldId id="272" r:id="rId14"/>
    <p:sldId id="275" r:id="rId15"/>
    <p:sldId id="276" r:id="rId16"/>
    <p:sldId id="278" r:id="rId17"/>
    <p:sldId id="281" r:id="rId18"/>
    <p:sldId id="283" r:id="rId19"/>
    <p:sldId id="284" r:id="rId20"/>
    <p:sldId id="286" r:id="rId21"/>
    <p:sldId id="287" r:id="rId22"/>
    <p:sldId id="288" r:id="rId23"/>
    <p:sldId id="292" r:id="rId24"/>
    <p:sldId id="295" r:id="rId25"/>
    <p:sldId id="433" r:id="rId26"/>
    <p:sldId id="298" r:id="rId27"/>
    <p:sldId id="299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3" r:id="rId38"/>
    <p:sldId id="314" r:id="rId39"/>
    <p:sldId id="315" r:id="rId40"/>
    <p:sldId id="316" r:id="rId41"/>
    <p:sldId id="317" r:id="rId42"/>
    <p:sldId id="437" r:id="rId43"/>
    <p:sldId id="319" r:id="rId44"/>
    <p:sldId id="320" r:id="rId45"/>
    <p:sldId id="321" r:id="rId46"/>
    <p:sldId id="322" r:id="rId47"/>
    <p:sldId id="323" r:id="rId48"/>
    <p:sldId id="324" r:id="rId49"/>
    <p:sldId id="327" r:id="rId50"/>
    <p:sldId id="328" r:id="rId51"/>
    <p:sldId id="337" r:id="rId52"/>
    <p:sldId id="338" r:id="rId53"/>
    <p:sldId id="340" r:id="rId54"/>
    <p:sldId id="342" r:id="rId55"/>
    <p:sldId id="343" r:id="rId56"/>
    <p:sldId id="438" r:id="rId57"/>
    <p:sldId id="344" r:id="rId58"/>
    <p:sldId id="345" r:id="rId59"/>
    <p:sldId id="349" r:id="rId60"/>
    <p:sldId id="353" r:id="rId61"/>
    <p:sldId id="354" r:id="rId62"/>
    <p:sldId id="357" r:id="rId63"/>
    <p:sldId id="358" r:id="rId64"/>
    <p:sldId id="360" r:id="rId65"/>
    <p:sldId id="361" r:id="rId66"/>
    <p:sldId id="362" r:id="rId67"/>
    <p:sldId id="363" r:id="rId68"/>
    <p:sldId id="364" r:id="rId69"/>
    <p:sldId id="365" r:id="rId70"/>
    <p:sldId id="367" r:id="rId71"/>
    <p:sldId id="368" r:id="rId72"/>
    <p:sldId id="370" r:id="rId73"/>
    <p:sldId id="371" r:id="rId74"/>
    <p:sldId id="374" r:id="rId75"/>
    <p:sldId id="373" r:id="rId76"/>
    <p:sldId id="376" r:id="rId77"/>
    <p:sldId id="381" r:id="rId78"/>
    <p:sldId id="384" r:id="rId79"/>
    <p:sldId id="386" r:id="rId80"/>
    <p:sldId id="388" r:id="rId81"/>
    <p:sldId id="390" r:id="rId82"/>
    <p:sldId id="439" r:id="rId83"/>
    <p:sldId id="392" r:id="rId84"/>
    <p:sldId id="396" r:id="rId85"/>
    <p:sldId id="399" r:id="rId86"/>
    <p:sldId id="401" r:id="rId87"/>
    <p:sldId id="402" r:id="rId88"/>
    <p:sldId id="404" r:id="rId89"/>
    <p:sldId id="406" r:id="rId90"/>
    <p:sldId id="408" r:id="rId91"/>
    <p:sldId id="409" r:id="rId92"/>
    <p:sldId id="411" r:id="rId93"/>
    <p:sldId id="413" r:id="rId94"/>
    <p:sldId id="414" r:id="rId95"/>
    <p:sldId id="415" r:id="rId96"/>
    <p:sldId id="416" r:id="rId97"/>
    <p:sldId id="417" r:id="rId98"/>
    <p:sldId id="419" r:id="rId99"/>
    <p:sldId id="420" r:id="rId100"/>
    <p:sldId id="421" r:id="rId101"/>
    <p:sldId id="424" r:id="rId102"/>
    <p:sldId id="428" r:id="rId103"/>
    <p:sldId id="431" r:id="rId104"/>
    <p:sldId id="432" r:id="rId10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7CB683"/>
    <a:srgbClr val="C09D29"/>
    <a:srgbClr val="FFFFFF"/>
    <a:srgbClr val="A05900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4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0" Type="http://schemas.openxmlformats.org/officeDocument/2006/relationships/commentAuthors" Target="commentAuthors.xml"/><Relationship Id="rId11" Type="http://schemas.openxmlformats.org/officeDocument/2006/relationships/slide" Target="slides/slide9.xml"/><Relationship Id="rId109" Type="http://schemas.openxmlformats.org/officeDocument/2006/relationships/tableStyles" Target="tableStyles.xml"/><Relationship Id="rId108" Type="http://schemas.openxmlformats.org/officeDocument/2006/relationships/viewProps" Target="viewProps.xml"/><Relationship Id="rId107" Type="http://schemas.openxmlformats.org/officeDocument/2006/relationships/presProps" Target="presProps.xml"/><Relationship Id="rId106" Type="http://schemas.openxmlformats.org/officeDocument/2006/relationships/notesMaster" Target="notesMasters/notesMaster1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80" y="2772410"/>
            <a:ext cx="9799320" cy="131318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048375" y="4392295"/>
            <a:ext cx="4949825" cy="64071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bg>
      <p:bgPr>
        <a:blipFill rotWithShape="1">
          <a:blip r:embed="rId2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ы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33586" y="278607"/>
            <a:ext cx="11379198" cy="14761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cap="none" baseline="0" dirty="0">
                <a:solidFill>
                  <a:srgbClr val="0072BC"/>
                </a:solidFill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8914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2" y="6217622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138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4226721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7994375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59549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000" b="0" u="none" strike="noStrike" kern="1200" cap="none" spc="300" normalizeH="0" baseline="0">
          <a:solidFill>
            <a:srgbClr val="0070C0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6455" y="2226310"/>
            <a:ext cx="10676255" cy="1859280"/>
          </a:xfrm>
        </p:spPr>
        <p:txBody>
          <a:bodyPr>
            <a:normAutofit fontScale="90000"/>
          </a:bodyPr>
          <a:lstStyle/>
          <a:p>
            <a:r>
              <a:rPr lang="ru-RU" sz="6665"/>
              <a:t>Пользовательские</a:t>
            </a:r>
            <a:br>
              <a:rPr lang="ru-RU" sz="6665"/>
            </a:br>
            <a:r>
              <a:rPr lang="ru-RU" sz="6665"/>
              <a:t>Функции</a:t>
            </a:r>
            <a:endParaRPr lang="ru-RU" sz="6665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9060" y="4744720"/>
            <a:ext cx="5819140" cy="640715"/>
          </a:xfrm>
        </p:spPr>
        <p:txBody>
          <a:bodyPr>
            <a:noAutofit/>
          </a:bodyPr>
          <a:lstStyle/>
          <a:p>
            <a:r>
              <a:rPr lang="ru-RU" sz="2200"/>
              <a:t>Докладчик: Евграфов Михаил</a:t>
            </a:r>
            <a:endParaRPr lang="ru-RU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5200"/>
              <a:t>Определение функций</a:t>
            </a:r>
            <a:endParaRPr lang="ru-RU" sz="5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Зачем нужны функции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3200400" cy="1280160"/>
          </a:xfrm>
          <a:prstGeom prst="roundRect">
            <a:avLst>
              <a:gd name="adj" fmla="val 16638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устранение дублирования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80560" y="1920240"/>
            <a:ext cx="3200400" cy="1280160"/>
          </a:xfrm>
          <a:prstGeom prst="roundRect">
            <a:avLst>
              <a:gd name="adj" fmla="val 16638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декомпозиция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38160" y="1920240"/>
            <a:ext cx="3200400" cy="1280160"/>
          </a:xfrm>
          <a:prstGeom prst="roundRect">
            <a:avLst>
              <a:gd name="adj" fmla="val 16638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читаемость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749040"/>
            <a:ext cx="3200400" cy="1280160"/>
          </a:xfrm>
          <a:prstGeom prst="roundRect">
            <a:avLst>
              <a:gd name="adj" fmla="val 16638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повторное использование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80560" y="3749040"/>
            <a:ext cx="3200400" cy="1280160"/>
          </a:xfrm>
          <a:prstGeom prst="roundRect">
            <a:avLst>
              <a:gd name="adj" fmla="val 16638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тестируемость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138160" y="3749040"/>
            <a:ext cx="3200400" cy="1280160"/>
          </a:xfrm>
          <a:prstGeom prst="roundRect">
            <a:avLst>
              <a:gd name="adj" fmla="val 16638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изоляция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9" name="Замещающий 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Проблема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467485"/>
            <a:ext cx="3639820" cy="44862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"Report"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168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"Summary"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168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"Details"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Правая фигурная скобка 5"/>
          <p:cNvSpPr/>
          <p:nvPr/>
        </p:nvSpPr>
        <p:spPr>
          <a:xfrm>
            <a:off x="4956810" y="1602105"/>
            <a:ext cx="542290" cy="4217670"/>
          </a:xfrm>
          <a:prstGeom prst="rightBrace">
            <a:avLst>
              <a:gd name="adj1" fmla="val 87327"/>
              <a:gd name="adj2" fmla="val 5000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269990" y="3234690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800">
                <a:solidFill>
                  <a:schemeClr val="accent1"/>
                </a:solidFill>
              </a:rPr>
              <a:t>дублирование логики</a:t>
            </a:r>
            <a:endParaRPr lang="ru-RU" altLang="en-US" sz="28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6" grpId="1" animBg="1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Решение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8668385" cy="3623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print_header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title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title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1680"/>
          </a:p>
          <a:p>
            <a:pPr algn="l"/>
            <a:endParaRPr sz="168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print_header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"Report"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print_header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"Summary"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print_header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"Details"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Синтаксис определения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8330" y="1649730"/>
            <a:ext cx="10968355" cy="142748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function_name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parameter_1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parameter_2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тело функции - блок с отступом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sz="2800"/>
          </a:p>
        </p:txBody>
      </p:sp>
      <p:sp>
        <p:nvSpPr>
          <p:cNvPr id="4" name="Rounded Rectangle 3"/>
          <p:cNvSpPr/>
          <p:nvPr/>
        </p:nvSpPr>
        <p:spPr>
          <a:xfrm>
            <a:off x="608400" y="3900000"/>
            <a:ext cx="2033840" cy="9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548400" y="4850000"/>
            <a:ext cx="215384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ключевое слово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42240" y="3900000"/>
            <a:ext cx="2033840" cy="9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function_name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2782240" y="4850000"/>
            <a:ext cx="215384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идентификатор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76080" y="3900000"/>
            <a:ext cx="2033840" cy="9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parameters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5016080" y="4850000"/>
            <a:ext cx="215384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список параметров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09920" y="3900000"/>
            <a:ext cx="2033840" cy="9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7249920" y="4850000"/>
            <a:ext cx="215384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конец заголовка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543760" y="3900000"/>
            <a:ext cx="2033840" cy="90000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тело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83760" y="4850000"/>
            <a:ext cx="215384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блок с отступом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14" name="Замещающий 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4" grpId="1" animBg="1"/>
      <p:bldP spid="5" grpId="1"/>
      <p:bldP spid="6" grpId="0" animBg="1"/>
      <p:bldP spid="7" grpId="0"/>
      <p:bldP spid="6" grpId="1" animBg="1"/>
      <p:bldP spid="7" grpId="1"/>
      <p:bldP spid="8" grpId="0" animBg="1"/>
      <p:bldP spid="9" grpId="0"/>
      <p:bldP spid="8" grpId="1" animBg="1"/>
      <p:bldP spid="9" grpId="1"/>
      <p:bldP spid="10" grpId="0" animBg="1"/>
      <p:bldP spid="11" grpId="0"/>
      <p:bldP spid="10" grpId="1" animBg="1"/>
      <p:bldP spid="11" grpId="1"/>
      <p:bldP spid="12" grpId="0" animBg="1"/>
      <p:bldP spid="13" grpId="0"/>
      <p:bldP spid="12" grpId="1" animBg="1"/>
      <p:bldP spid="1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Параметры функции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10912475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!"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Alice!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"Bob"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"Good morning"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Good morning, Bob!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Параметры и аргументы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500000" y="1795085"/>
            <a:ext cx="32000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аргументы 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00000" y="1795085"/>
            <a:ext cx="32000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параметры 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00000" y="2444475"/>
            <a:ext cx="3200000" cy="8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2200"/>
          </a:p>
        </p:txBody>
      </p:sp>
      <p:sp>
        <p:nvSpPr>
          <p:cNvPr id="6" name="Rounded Rectangle 5"/>
          <p:cNvSpPr/>
          <p:nvPr/>
        </p:nvSpPr>
        <p:spPr>
          <a:xfrm>
            <a:off x="7000000" y="2444475"/>
            <a:ext cx="3200000" cy="8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endParaRPr sz="2200"/>
          </a:p>
        </p:txBody>
      </p:sp>
      <p:cxnSp>
        <p:nvCxnSpPr>
          <p:cNvPr id="7" name="Connector 6"/>
          <p:cNvCxnSpPr/>
          <p:nvPr/>
        </p:nvCxnSpPr>
        <p:spPr>
          <a:xfrm>
            <a:off x="4750000" y="2869475"/>
            <a:ext cx="22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00000" y="3494475"/>
            <a:ext cx="3200000" cy="8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endParaRPr sz="2200"/>
          </a:p>
        </p:txBody>
      </p:sp>
      <p:sp>
        <p:nvSpPr>
          <p:cNvPr id="9" name="Rounded Rectangle 8"/>
          <p:cNvSpPr/>
          <p:nvPr/>
        </p:nvSpPr>
        <p:spPr>
          <a:xfrm>
            <a:off x="7000000" y="3494475"/>
            <a:ext cx="3200000" cy="8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</a:t>
            </a:r>
            <a:endParaRPr sz="2200"/>
          </a:p>
        </p:txBody>
      </p:sp>
      <p:cxnSp>
        <p:nvCxnSpPr>
          <p:cNvPr id="10" name="Connector 9"/>
          <p:cNvCxnSpPr/>
          <p:nvPr/>
        </p:nvCxnSpPr>
        <p:spPr>
          <a:xfrm>
            <a:off x="4750000" y="3919475"/>
            <a:ext cx="22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400" y="5299302"/>
            <a:ext cx="109692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аргументы связываются с параметрами при вызове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2" name="Замещающий 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Тело функции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2080895"/>
            <a:ext cx="9849485" cy="2553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print_even_numbers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limit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limit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    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Пустое тело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8677910" cy="3046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not_implemented_yet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pass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not_implemented_yet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()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-&gt;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None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  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  <a:sym typeface="+mn-ea"/>
              </a:rPr>
              <a:t>...</a:t>
            </a:r>
            <a:endParaRPr sz="3200">
              <a:solidFill>
                <a:schemeClr val="tx1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Вызов и объект-функция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513840"/>
            <a:ext cx="10119360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say_hello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"Hello!"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say_hello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Hello!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say_hello</a:t>
            </a:r>
            <a:endParaRPr sz="32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ничего не произошло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say_hello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&lt;function say_hello at 0x...&gt;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Порядок вызова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9035" y="2578595"/>
            <a:ext cx="2457300" cy="1700000"/>
          </a:xfrm>
          <a:prstGeom prst="roundRect">
            <a:avLst>
              <a:gd name="adj" fmla="val 12529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вычисляются аргументы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116335" y="3428595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46335" y="2578595"/>
            <a:ext cx="2457300" cy="1700000"/>
          </a:xfrm>
          <a:prstGeom prst="roundRect">
            <a:avLst>
              <a:gd name="adj" fmla="val 12529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аргументы связываются с параметрами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53635" y="3428595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83635" y="2578595"/>
            <a:ext cx="2457300" cy="1700000"/>
          </a:xfrm>
          <a:prstGeom prst="roundRect">
            <a:avLst>
              <a:gd name="adj" fmla="val 12529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выполняется тело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790935" y="3428595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20935" y="2578595"/>
            <a:ext cx="2457300" cy="1700000"/>
          </a:xfrm>
          <a:prstGeom prst="roundRect">
            <a:avLst>
              <a:gd name="adj" fmla="val 12529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значение возвращается в место вызова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0" name="Замещающий 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7" grpId="0" bldLvl="0" animBg="1"/>
      <p:bldP spid="7" grpId="1" animBg="1"/>
      <p:bldP spid="9" grpId="0" bldLvl="0" animBg="1"/>
      <p:bldP spid="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Время выполнения тела</a:t>
            </a:r>
            <a:endParaRPr lang="ru-RU" alt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922782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"before def"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lang="ru-RU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before def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show_message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"inside function"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"after def"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lang="en-US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after def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show_message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lang="en-US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   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inside function</a:t>
            </a:r>
            <a:endParaRPr lang="en-US"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def </a:t>
            </a:r>
            <a:r>
              <a:rPr lang="en-US" altLang="ru-RU" sz="4445"/>
              <a:t>vs</a:t>
            </a:r>
            <a:r>
              <a:rPr lang="ru-RU" sz="4445"/>
              <a:t> вызов</a:t>
            </a:r>
            <a:endParaRPr lang="ru-RU" sz="4445"/>
          </a:p>
        </p:txBody>
      </p:sp>
      <p:sp>
        <p:nvSpPr>
          <p:cNvPr id="3" name="Rounded Rectangle 2"/>
          <p:cNvSpPr/>
          <p:nvPr/>
        </p:nvSpPr>
        <p:spPr>
          <a:xfrm>
            <a:off x="6084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def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116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вызов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4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создает объект-функцию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связывает объект с именем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тело не выполняется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116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вычисляет аргументы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выполняет тело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возвращает значение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7" name="Замещающий 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3" grpId="1" animBg="1"/>
      <p:bldP spid="5" grpId="1" animBg="1"/>
      <p:bldP spid="4" grpId="0" animBg="1"/>
      <p:bldP spid="6" grpId="0" animBg="1"/>
      <p:bldP spid="4" grpId="1" animBg="1"/>
      <p:bldP spid="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Следствие</a:t>
            </a:r>
            <a:endParaRPr lang="ru-RU" alt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6406515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second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second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"second"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first</a:t>
            </a:r>
            <a:endParaRPr sz="2800">
              <a:solidFill>
                <a:schemeClr val="accent4"/>
              </a:solidFill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second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Инструкция return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536065"/>
            <a:ext cx="8437245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32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16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Код после return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9457690" cy="3046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get_number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"This line is never reached"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get_number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Ранний возврат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488440"/>
            <a:ext cx="8780145" cy="4651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get_sign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60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</a:t>
            </a:r>
            <a:r>
              <a:rPr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&gt;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60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    </a:t>
            </a:r>
            <a:r>
              <a:rPr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"positive"</a:t>
            </a:r>
            <a:endParaRPr sz="2600"/>
          </a:p>
          <a:p>
            <a:pPr algn="l"/>
            <a:endParaRPr sz="156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</a:t>
            </a:r>
            <a:r>
              <a:rPr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&lt;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60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    </a:t>
            </a:r>
            <a:r>
              <a:rPr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"negative"</a:t>
            </a:r>
            <a:endParaRPr sz="2600"/>
          </a:p>
          <a:p>
            <a:pPr algn="l"/>
            <a:endParaRPr sz="156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</a:t>
            </a:r>
            <a:r>
              <a:rPr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"zero"</a:t>
            </a:r>
            <a:endParaRPr sz="2600"/>
          </a:p>
          <a:p>
            <a:pPr algn="l"/>
            <a:endParaRPr sz="1560"/>
          </a:p>
          <a:p>
            <a:pPr algn="l"/>
            <a:endParaRPr sz="156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get_sign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positive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get_sign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-3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negative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get_sign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zero</a:t>
            </a:r>
            <a:endParaRPr sz="26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return внутри цикла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740359" cy="44862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find_first_even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    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28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168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168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find_first_even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4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find_first_even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Возврат None</a:t>
            </a:r>
            <a:endParaRPr lang="ru-RU" sz="4445"/>
          </a:p>
        </p:txBody>
      </p:sp>
      <p:sp>
        <p:nvSpPr>
          <p:cNvPr id="3" name="Rounded Rectangle 2"/>
          <p:cNvSpPr/>
          <p:nvPr/>
        </p:nvSpPr>
        <p:spPr>
          <a:xfrm>
            <a:off x="6999365" y="2850515"/>
            <a:ext cx="3900000" cy="1500000"/>
          </a:xfrm>
          <a:prstGeom prst="roundRect">
            <a:avLst>
              <a:gd name="adj" fmla="val 14199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None</a:t>
            </a:r>
            <a:endParaRPr sz="24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07765" y="2140515"/>
            <a:ext cx="44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return </a:t>
            </a:r>
            <a:r>
              <a:rPr lang="en-US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endParaRPr lang="en-US" sz="2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557765" y="2540515"/>
            <a:ext cx="1391600" cy="10600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07765" y="3200515"/>
            <a:ext cx="44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return без выражения</a:t>
            </a:r>
            <a:endParaRPr sz="2000">
              <a:solidFill>
                <a:schemeClr val="accent1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557765" y="3600515"/>
            <a:ext cx="13916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07765" y="4260515"/>
            <a:ext cx="44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sym typeface="+mn-ea"/>
              </a:rPr>
              <a:t>return отсутствует</a:t>
            </a:r>
            <a:endParaRPr sz="2000">
              <a:solidFill>
                <a:schemeClr val="accent1"/>
              </a:solidFill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5557765" y="3600515"/>
            <a:ext cx="1391600" cy="10600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Замещающий 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7" grpId="0" bldLvl="0" animBg="1"/>
      <p:bldP spid="7" grpId="1" animBg="1"/>
      <p:bldP spid="9" grpId="0" bldLvl="0" animBg="1"/>
      <p:bldP spid="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Возврат None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9583420" cy="4492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no_return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60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"working"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600"/>
          </a:p>
          <a:p>
            <a:pPr algn="l"/>
            <a:endParaRPr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bare_return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60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"working"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60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</a:t>
            </a:r>
            <a:r>
              <a:rPr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endParaRPr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600"/>
          </a:p>
          <a:p>
            <a:pPr algn="l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first_result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no_return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600">
                <a:latin typeface="Consolas" panose="020B0609020204030204"/>
                <a:cs typeface="Consolas" panose="020B0609020204030204"/>
              </a:rPr>
              <a:t>   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working</a:t>
            </a:r>
            <a:endParaRPr sz="2600"/>
          </a:p>
          <a:p>
            <a:pPr algn="l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second_result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bare_return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600">
                <a:latin typeface="Consolas" panose="020B0609020204030204"/>
                <a:cs typeface="Consolas" panose="020B0609020204030204"/>
              </a:rPr>
              <a:t>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working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first_result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second_result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</a:t>
            </a:r>
            <a:endParaRPr sz="26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print </a:t>
            </a:r>
            <a:r>
              <a:rPr lang="en-US" sz="4445"/>
              <a:t>vs</a:t>
            </a:r>
            <a:r>
              <a:rPr lang="ru-RU" sz="4445"/>
              <a:t> return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656570" cy="4154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add_with_print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first_term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second_term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first_term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second_term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add_with_return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first_term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second_term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first_term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second_term</a:t>
            </a:r>
            <a:endParaRPr sz="24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result_with_print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add_with_print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5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result_with_return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add_with_return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result_with_print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result_with_return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5</a:t>
            </a:r>
            <a:endParaRPr sz="24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en-US" sz="4445"/>
              <a:t>Возврат</a:t>
            </a:r>
            <a:r>
              <a:rPr lang="en-US" sz="4445"/>
              <a:t> </a:t>
            </a:r>
            <a:r>
              <a:rPr lang="ru-RU" sz="4445"/>
              <a:t>нескольких значений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935868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get_min_max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min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max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get_min_max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(1, 7)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'tuple'&gt;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>
                <a:sym typeface="+mn-ea"/>
              </a:rPr>
              <a:t>Распаковка результата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935868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get_min_max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min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max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minimum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maximum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get_min_max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4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7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minimum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1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maximum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7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5800"/>
              <a:t>Пространства имен</a:t>
            </a:r>
            <a:endParaRPr lang="ru-RU" sz="5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Пространство имен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500000" y="1500000"/>
            <a:ext cx="3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имя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00000" y="1500000"/>
            <a:ext cx="3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объект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00000" y="2200000"/>
            <a:ext cx="3200000" cy="8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endParaRPr sz="2200"/>
          </a:p>
        </p:txBody>
      </p:sp>
      <p:sp>
        <p:nvSpPr>
          <p:cNvPr id="6" name="Rounded Rectangle 5"/>
          <p:cNvSpPr/>
          <p:nvPr/>
        </p:nvSpPr>
        <p:spPr>
          <a:xfrm>
            <a:off x="7000000" y="2200000"/>
            <a:ext cx="3200000" cy="8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endParaRPr sz="2200"/>
          </a:p>
        </p:txBody>
      </p:sp>
      <p:cxnSp>
        <p:nvCxnSpPr>
          <p:cNvPr id="7" name="Connector 6"/>
          <p:cNvCxnSpPr/>
          <p:nvPr/>
        </p:nvCxnSpPr>
        <p:spPr>
          <a:xfrm>
            <a:off x="4750000" y="2625000"/>
            <a:ext cx="22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00000" y="3250000"/>
            <a:ext cx="3200000" cy="8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endParaRPr sz="2200"/>
          </a:p>
        </p:txBody>
      </p:sp>
      <p:sp>
        <p:nvSpPr>
          <p:cNvPr id="9" name="Rounded Rectangle 8"/>
          <p:cNvSpPr/>
          <p:nvPr/>
        </p:nvSpPr>
        <p:spPr>
          <a:xfrm>
            <a:off x="7000000" y="3250000"/>
            <a:ext cx="3200000" cy="8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2200"/>
          </a:p>
        </p:txBody>
      </p:sp>
      <p:cxnSp>
        <p:nvCxnSpPr>
          <p:cNvPr id="10" name="Connector 9"/>
          <p:cNvCxnSpPr/>
          <p:nvPr/>
        </p:nvCxnSpPr>
        <p:spPr>
          <a:xfrm>
            <a:off x="4750000" y="3675000"/>
            <a:ext cx="22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400" y="4898300"/>
            <a:ext cx="109692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accent1"/>
                </a:solidFill>
              </a:rPr>
              <a:t>соответствие имени объекту, по сути словарь</a:t>
            </a:r>
            <a:endParaRPr sz="2800">
              <a:solidFill>
                <a:schemeClr val="accent1"/>
              </a:solidFill>
            </a:endParaRPr>
          </a:p>
        </p:txBody>
      </p:sp>
      <p:sp>
        <p:nvSpPr>
          <p:cNvPr id="12" name="Замещающий 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Функция globals()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986409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32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globals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globals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Виды пространств имен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22045" y="1921145"/>
            <a:ext cx="24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пространство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22045" y="1921145"/>
            <a:ext cx="42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создается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22045" y="1921145"/>
            <a:ext cx="41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удаляется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2045" y="2441145"/>
            <a:ext cx="24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встроенное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22045" y="2441145"/>
            <a:ext cx="42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при запуске интерпретатора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22045" y="2441145"/>
            <a:ext cx="41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при завершении интерпретатора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2045" y="3171145"/>
            <a:ext cx="24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глобальное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122045" y="3171145"/>
            <a:ext cx="42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при загрузке модуля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22045" y="3171145"/>
            <a:ext cx="41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при завершении программы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2045" y="3901145"/>
            <a:ext cx="24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локальное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22045" y="3901145"/>
            <a:ext cx="42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при каждом вызове функции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22045" y="3901145"/>
            <a:ext cx="41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при завершении вызова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5" name="Замещающий 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6" grpId="1" animBg="1"/>
      <p:bldP spid="7" grpId="1" animBg="1"/>
      <p:bldP spid="8" grpId="1" animBg="1"/>
      <p:bldP spid="9" grpId="0" bldLvl="0" animBg="1"/>
      <p:bldP spid="10" grpId="0" bldLvl="0" animBg="1"/>
      <p:bldP spid="11" grpId="0" bldLvl="0" animBg="1"/>
      <p:bldP spid="9" grpId="1" animBg="1"/>
      <p:bldP spid="10" grpId="1" animBg="1"/>
      <p:bldP spid="11" grpId="1" animBg="1"/>
      <p:bldP spid="12" grpId="0" bldLvl="0" animBg="1"/>
      <p:bldP spid="13" grpId="0" bldLvl="0" animBg="1"/>
      <p:bldP spid="14" grpId="0" bldLvl="0" animBg="1"/>
      <p:bldP spid="12" grpId="1" animBg="1"/>
      <p:bldP spid="13" grpId="1" animBg="1"/>
      <p:bldP spid="1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Независимость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637030"/>
            <a:ext cx="8633460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first_function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"first:"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second_function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"text"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"second:"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first_function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first: 10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second_function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second: text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Два пространства имен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8400" y="1650000"/>
            <a:ext cx="5300000" cy="3300000"/>
          </a:xfrm>
          <a:prstGeom prst="roundRect">
            <a:avLst>
              <a:gd name="adj" fmla="val 6454"/>
            </a:avLst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400" y="1979205"/>
            <a:ext cx="53000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first_function</a:t>
            </a:r>
            <a:endParaRPr sz="2800">
              <a:solidFill>
                <a:schemeClr val="accent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58400" y="3054520"/>
            <a:ext cx="1900000" cy="75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value</a:t>
            </a:r>
            <a:endParaRPr sz="20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8400" y="3054520"/>
            <a:ext cx="2000000" cy="7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endParaRPr sz="2000"/>
          </a:p>
        </p:txBody>
      </p:sp>
      <p:cxnSp>
        <p:nvCxnSpPr>
          <p:cNvPr id="7" name="Connector 6"/>
          <p:cNvCxnSpPr/>
          <p:nvPr/>
        </p:nvCxnSpPr>
        <p:spPr>
          <a:xfrm>
            <a:off x="2808400" y="3429520"/>
            <a:ext cx="8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77600" y="1650000"/>
            <a:ext cx="5300000" cy="3300000"/>
          </a:xfrm>
          <a:prstGeom prst="roundRect">
            <a:avLst>
              <a:gd name="adj" fmla="val 6454"/>
            </a:avLst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600" y="1979205"/>
            <a:ext cx="53000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second_function</a:t>
            </a:r>
            <a:endParaRPr sz="2800">
              <a:solidFill>
                <a:schemeClr val="accent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27600" y="3054520"/>
            <a:ext cx="1900000" cy="75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value</a:t>
            </a:r>
            <a:endParaRPr sz="20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327600" y="3054520"/>
            <a:ext cx="2000000" cy="7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"text"</a:t>
            </a:r>
            <a:endParaRPr sz="2000"/>
          </a:p>
        </p:txBody>
      </p:sp>
      <p:cxnSp>
        <p:nvCxnSpPr>
          <p:cNvPr id="12" name="Connector 11"/>
          <p:cNvCxnSpPr/>
          <p:nvPr/>
        </p:nvCxnSpPr>
        <p:spPr>
          <a:xfrm>
            <a:off x="8477600" y="3429520"/>
            <a:ext cx="8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400" y="5200000"/>
            <a:ext cx="109692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одинаковые имена в разных пространствах не связаны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4" name="Замещающий 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>
                <a:sym typeface="+mn-ea"/>
              </a:rPr>
              <a:t>Независимость от вызовов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935868" cy="41408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count_to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limit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endParaRPr sz="2800"/>
          </a:p>
          <a:p>
            <a:pPr algn="l"/>
            <a:endParaRPr sz="168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limit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2800"/>
          </a:p>
          <a:p>
            <a:pPr algn="l"/>
            <a:endParaRPr sz="168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counter</a:t>
            </a:r>
            <a:endParaRPr sz="2800"/>
          </a:p>
          <a:p>
            <a:pPr algn="l"/>
            <a:endParaRPr sz="1680"/>
          </a:p>
          <a:p>
            <a:pPr algn="l"/>
            <a:endParaRPr sz="168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count_to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count_to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5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Глобальные переменные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760220"/>
            <a:ext cx="10796219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tax_rate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0.2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глобальная переменная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calculate_price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tax_rate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calculate_price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120.0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Локальные переменные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965" y="1352550"/>
            <a:ext cx="8896985" cy="4892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calculate_total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4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2400">
              <a:solidFill>
                <a:schemeClr val="accent2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total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</a:t>
            </a:r>
            <a:r>
              <a:rPr sz="2400">
                <a:latin typeface="Consolas" panose="020B0609020204030204"/>
                <a:cs typeface="Consolas" panose="020B0609020204030204"/>
              </a:rPr>
              <a:t>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локальная переменная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total</a:t>
            </a:r>
            <a:endParaRPr sz="24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calculate_total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30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total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NameError: name 'total' is not defined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NameError: name 'price' is not defined</a:t>
            </a:r>
            <a:endParaRPr sz="24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sym typeface="+mn-ea"/>
              </a:rPr>
              <a:t>Затенение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10582275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"global"</a:t>
            </a:r>
            <a:endParaRPr sz="32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change_message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"local"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"inside:"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change_message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inside: local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"outside:"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outside: global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Затенение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8400" y="1650000"/>
            <a:ext cx="5300000" cy="3300000"/>
          </a:xfrm>
          <a:prstGeom prst="roundRect">
            <a:avLst>
              <a:gd name="adj" fmla="val 6454"/>
            </a:avLst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400" y="1730000"/>
            <a:ext cx="53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модуль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58400" y="2924980"/>
            <a:ext cx="1900000" cy="75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message</a:t>
            </a:r>
            <a:endParaRPr sz="20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8400" y="2924980"/>
            <a:ext cx="2000000" cy="7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"global"</a:t>
            </a:r>
            <a:endParaRPr sz="2000"/>
          </a:p>
        </p:txBody>
      </p:sp>
      <p:cxnSp>
        <p:nvCxnSpPr>
          <p:cNvPr id="7" name="Connector 6"/>
          <p:cNvCxnSpPr/>
          <p:nvPr/>
        </p:nvCxnSpPr>
        <p:spPr>
          <a:xfrm>
            <a:off x="2808400" y="3299980"/>
            <a:ext cx="8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77600" y="1650000"/>
            <a:ext cx="5300000" cy="3300000"/>
          </a:xfrm>
          <a:prstGeom prst="roundRect">
            <a:avLst>
              <a:gd name="adj" fmla="val 6454"/>
            </a:avLst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600" y="1730000"/>
            <a:ext cx="53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change_message()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27600" y="2924980"/>
            <a:ext cx="1900000" cy="75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message</a:t>
            </a:r>
            <a:endParaRPr sz="20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327600" y="2924980"/>
            <a:ext cx="2000000" cy="75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"local"</a:t>
            </a:r>
            <a:endParaRPr sz="2000"/>
          </a:p>
        </p:txBody>
      </p:sp>
      <p:cxnSp>
        <p:nvCxnSpPr>
          <p:cNvPr id="12" name="Connector 11"/>
          <p:cNvCxnSpPr/>
          <p:nvPr/>
        </p:nvCxnSpPr>
        <p:spPr>
          <a:xfrm>
            <a:off x="8477600" y="3299980"/>
            <a:ext cx="8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400" y="5269813"/>
            <a:ext cx="109692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локальное имя закрывает глобальное на время вызова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4" name="Замещающий 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Поиск имен</a:t>
            </a:r>
            <a:endParaRPr lang="ru-RU" sz="6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Построение таблицы</a:t>
            </a:r>
            <a:r>
              <a:rPr lang="en-US" altLang="ru-RU"/>
              <a:t> </a:t>
            </a:r>
            <a:r>
              <a:rPr lang="ru-RU" altLang="ru-RU"/>
              <a:t>имен</a:t>
            </a:r>
            <a:endParaRPr lang="ru-RU" altLang="ru-RU"/>
          </a:p>
        </p:txBody>
      </p:sp>
      <p:sp>
        <p:nvSpPr>
          <p:cNvPr id="3" name="Rounded Rectangle 2"/>
          <p:cNvSpPr/>
          <p:nvPr/>
        </p:nvSpPr>
        <p:spPr>
          <a:xfrm>
            <a:off x="608401" y="2915000"/>
            <a:ext cx="3403066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компиляция тела функции</a:t>
            </a:r>
            <a:endParaRPr sz="2000">
              <a:solidFill>
                <a:schemeClr val="accent1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4061467" y="3615000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91467" y="2915000"/>
            <a:ext cx="3403066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символьная таблица</a:t>
            </a:r>
            <a:endParaRPr sz="2000">
              <a:solidFill>
                <a:schemeClr val="accent1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7844533" y="3615000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174533" y="2915000"/>
            <a:ext cx="3403066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выполнение вызова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1" name="Замещающий 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Классификация имен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84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локальные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116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внешние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4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параметры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имена с присваиванием в теле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=, +=, for, import, def, with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116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имена только читаются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ищутся во внешних областях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7" name="Замещающий 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Символьная таблица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525905"/>
            <a:ext cx="9241155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rate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calculate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total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total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rate</a:t>
            </a:r>
            <a:endParaRPr sz="24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code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calculate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__code__</a:t>
            </a:r>
            <a:endParaRPr sz="24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code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co_varnames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('price', 'count', 'total')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code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co_names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('rate',)</a:t>
            </a:r>
            <a:endParaRPr sz="24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Правило LEGB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8400" y="2915000"/>
            <a:ext cx="245730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Local</a:t>
            </a:r>
            <a:endParaRPr sz="2000">
              <a:solidFill>
                <a:schemeClr val="accent1"/>
              </a:solidFill>
            </a:endParaRPr>
          </a:p>
          <a:p>
            <a:pPr algn="ctr"/>
            <a:r>
              <a:rPr sz="2000">
                <a:solidFill>
                  <a:schemeClr val="accent1"/>
                </a:solidFill>
              </a:rPr>
              <a:t>локальная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400" y="4355000"/>
            <a:ext cx="26573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текущая функция</a:t>
            </a:r>
            <a:endParaRPr sz="1600">
              <a:solidFill>
                <a:schemeClr val="accent1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115700" y="3615000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45700" y="2915000"/>
            <a:ext cx="245730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Enclosing</a:t>
            </a:r>
            <a:endParaRPr sz="2000">
              <a:solidFill>
                <a:schemeClr val="accent1"/>
              </a:solidFill>
            </a:endParaRPr>
          </a:p>
          <a:p>
            <a:pPr algn="ctr"/>
            <a:r>
              <a:rPr sz="2000">
                <a:solidFill>
                  <a:schemeClr val="accent1"/>
                </a:solidFill>
              </a:rPr>
              <a:t>объемлющая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45700" y="4355000"/>
            <a:ext cx="26573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внешние функции</a:t>
            </a:r>
            <a:endParaRPr sz="1600">
              <a:solidFill>
                <a:schemeClr val="accent1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953000" y="3615000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83000" y="2915000"/>
            <a:ext cx="245730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Global</a:t>
            </a:r>
            <a:endParaRPr sz="2000">
              <a:solidFill>
                <a:schemeClr val="accent1"/>
              </a:solidFill>
            </a:endParaRPr>
          </a:p>
          <a:p>
            <a:pPr algn="ctr"/>
            <a:r>
              <a:rPr sz="2000">
                <a:solidFill>
                  <a:schemeClr val="accent1"/>
                </a:solidFill>
              </a:rPr>
              <a:t>глобальная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83000" y="4355000"/>
            <a:ext cx="26573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модуль</a:t>
            </a:r>
            <a:endParaRPr sz="1600">
              <a:solidFill>
                <a:schemeClr val="accent1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790300" y="3615000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20300" y="2915000"/>
            <a:ext cx="245730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Built-in</a:t>
            </a:r>
            <a:endParaRPr sz="2000">
              <a:solidFill>
                <a:schemeClr val="accent1"/>
              </a:solidFill>
            </a:endParaRPr>
          </a:p>
          <a:p>
            <a:pPr algn="ctr"/>
            <a:r>
              <a:rPr sz="2000">
                <a:solidFill>
                  <a:schemeClr val="accent1"/>
                </a:solidFill>
              </a:rPr>
              <a:t>встроенная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20300" y="4355000"/>
            <a:ext cx="265730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1600">
                <a:solidFill>
                  <a:schemeClr val="accent1"/>
                </a:solidFill>
              </a:rPr>
              <a:t>, </a:t>
            </a:r>
            <a:r>
              <a:rPr sz="16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sz="1600">
                <a:solidFill>
                  <a:schemeClr val="accent1"/>
                </a:solidFill>
              </a:rPr>
              <a:t>, </a:t>
            </a:r>
            <a:r>
              <a:rPr sz="1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sz="1600">
              <a:solidFill>
                <a:schemeClr val="accent2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Замещающий 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6" grpId="1" animBg="1"/>
      <p:bldP spid="7" grpId="1"/>
      <p:bldP spid="10" grpId="0"/>
      <p:bldP spid="9" grpId="0" animBg="1"/>
      <p:bldP spid="10" grpId="1"/>
      <p:bldP spid="9" grpId="1" animBg="1"/>
      <p:bldP spid="13" grpId="0"/>
      <p:bldP spid="12" grpId="0" animBg="1"/>
      <p:bldP spid="13" grpId="1"/>
      <p:bldP spid="12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224280"/>
            <a:ext cx="5375275" cy="5090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17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17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nesting_function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17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var_nonlocal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17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142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17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nested_function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217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17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242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217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17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217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17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var_nonlocal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217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17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17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nested_function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nesting_function</a:t>
            </a:r>
            <a:r>
              <a:rPr lang="en-US" altLang="ru-RU" sz="217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217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242</a:t>
            </a:r>
            <a:endParaRPr lang="en-US" altLang="ru-RU" sz="217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142</a:t>
            </a:r>
            <a:endParaRPr lang="en-US" altLang="ru-RU" sz="217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17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42</a:t>
            </a:r>
            <a:endParaRPr lang="en-US" altLang="ru-RU" sz="217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V="1">
            <a:off x="5150429" y="3069281"/>
            <a:ext cx="0" cy="354824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6214901" y="2324275"/>
            <a:ext cx="0" cy="1419297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V="1">
            <a:off x="7279061" y="1401857"/>
            <a:ext cx="0" cy="2696539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Прямое соединение 8"/>
          <p:cNvCxnSpPr/>
          <p:nvPr/>
        </p:nvCxnSpPr>
        <p:spPr>
          <a:xfrm flipV="1">
            <a:off x="4289403" y="3424105"/>
            <a:ext cx="861060" cy="127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Прямое соединение 9"/>
          <p:cNvCxnSpPr/>
          <p:nvPr/>
        </p:nvCxnSpPr>
        <p:spPr>
          <a:xfrm>
            <a:off x="4745532" y="3742302"/>
            <a:ext cx="1469390" cy="127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Прямое соединение 10"/>
          <p:cNvCxnSpPr/>
          <p:nvPr/>
        </p:nvCxnSpPr>
        <p:spPr>
          <a:xfrm>
            <a:off x="4440780" y="4098396"/>
            <a:ext cx="2838281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Замещающий номер слайда 1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Поиск имен</a:t>
            </a:r>
            <a:endParaRPr lang="ru-RU" altLang="ru-RU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Чтение </a:t>
            </a:r>
            <a:r>
              <a:rPr lang="en-US" sz="4445"/>
              <a:t>vs</a:t>
            </a:r>
            <a:r>
              <a:rPr lang="ru-RU" sz="4445"/>
              <a:t> присваивание</a:t>
            </a:r>
            <a:endParaRPr lang="ru-RU" sz="4445"/>
          </a:p>
        </p:txBody>
      </p:sp>
      <p:sp>
        <p:nvSpPr>
          <p:cNvPr id="3" name="Rounded Rectangle 2"/>
          <p:cNvSpPr/>
          <p:nvPr/>
        </p:nvSpPr>
        <p:spPr>
          <a:xfrm>
            <a:off x="6084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чтение имени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116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присваивание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4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поиск: L, затем E, G, B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побеждает ближайшее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не найдено: NameError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116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имя всегда локальное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создается в текущей функции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7" name="Замещающий 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5200"/>
              <a:t>Передача аргументов</a:t>
            </a:r>
            <a:endParaRPr lang="ru-RU" sz="5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Передача ссылки</a:t>
            </a:r>
            <a:endParaRPr lang="ru-RU" alt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10773410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show_identity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parameter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"inside:"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parameter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"outside:"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outside: 140234567890123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show_identity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inside: 140234567890123</a:t>
            </a:r>
            <a:endParaRPr lang="en-US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Параметр — новое имя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7000000" y="3175000"/>
            <a:ext cx="3900000" cy="1500000"/>
          </a:xfrm>
          <a:prstGeom prst="roundRect">
            <a:avLst>
              <a:gd name="adj" fmla="val 14199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800000" y="4806330"/>
            <a:ext cx="43000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accent1"/>
                </a:solidFill>
              </a:rPr>
              <a:t>один и тот же объект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08400" y="2615000"/>
            <a:ext cx="44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endParaRPr sz="2000"/>
          </a:p>
        </p:txBody>
      </p:sp>
      <p:cxnSp>
        <p:nvCxnSpPr>
          <p:cNvPr id="6" name="Connector 5"/>
          <p:cNvCxnSpPr/>
          <p:nvPr/>
        </p:nvCxnSpPr>
        <p:spPr>
          <a:xfrm>
            <a:off x="5558400" y="3015000"/>
            <a:ext cx="1391600" cy="9100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8400" y="3440850"/>
            <a:ext cx="44000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accent1"/>
                </a:solidFill>
              </a:rPr>
              <a:t>имя в вызывающем коде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08400" y="4055000"/>
            <a:ext cx="44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parameter</a:t>
            </a:r>
            <a:endParaRPr sz="2000"/>
          </a:p>
        </p:txBody>
      </p:sp>
      <p:cxnSp>
        <p:nvCxnSpPr>
          <p:cNvPr id="9" name="Connector 8"/>
          <p:cNvCxnSpPr/>
          <p:nvPr/>
        </p:nvCxnSpPr>
        <p:spPr>
          <a:xfrm flipV="1">
            <a:off x="5558400" y="3925000"/>
            <a:ext cx="1391600" cy="5300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08400" y="4880850"/>
            <a:ext cx="44000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accent1"/>
                </a:solidFill>
              </a:rPr>
              <a:t>имя в функции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Замещающий 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Модели передачи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8401" y="2915000"/>
            <a:ext cx="3483066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по значению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401" y="4355000"/>
            <a:ext cx="3683066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>
                <a:solidFill>
                  <a:schemeClr val="accent1"/>
                </a:solidFill>
              </a:rPr>
              <a:t>копия объекта, в Python нет</a:t>
            </a:r>
            <a:endParaRPr sz="1500"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51467" y="2915000"/>
            <a:ext cx="3483066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по ссылке на переменную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51467" y="4355000"/>
            <a:ext cx="3683066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как &amp; в C++, в Python нет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4533" y="2915000"/>
            <a:ext cx="3483066" cy="1400000"/>
          </a:xfrm>
          <a:prstGeom prst="roundRect">
            <a:avLst>
              <a:gd name="adj" fmla="val 15214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</a:rPr>
              <a:t>по ссылке на объект</a:t>
            </a:r>
            <a:endParaRPr sz="20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94533" y="4355000"/>
            <a:ext cx="3683066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модель Python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9" name="Замещающий 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Изменяемые аргументы</a:t>
            </a:r>
            <a:endParaRPr lang="ru-RU" alt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398905"/>
            <a:ext cx="10846435" cy="4831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2800">
              <a:solidFill>
                <a:schemeClr val="accent2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shopping_list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"bread"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"milk"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shopping_list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"eggs"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shopping_list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['bread', 'milk', 'eggs']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Присваивание в теле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558165" y="1600200"/>
            <a:ext cx="10135235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replace_list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100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200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"inside:"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numbers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replace_list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inside: [100, 200]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"outside:"</a:t>
            </a:r>
            <a:r>
              <a:rPr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outside: [1, 2, 3]</a:t>
            </a:r>
            <a:endParaRPr lang="en-US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>
                <a:sym typeface="+mn-ea"/>
              </a:rPr>
              <a:t>Присваивание в теле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550000"/>
            <a:ext cx="53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chemeClr val="accent1"/>
                </a:solidFill>
              </a:rPr>
              <a:t>до присваивания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77600" y="1550000"/>
            <a:ext cx="53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chemeClr val="accent1"/>
                </a:solidFill>
              </a:rPr>
              <a:t>после присваивания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400" y="2250000"/>
            <a:ext cx="1900000" cy="7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numbers</a:t>
            </a:r>
            <a:endParaRPr sz="20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8400" y="3750000"/>
            <a:ext cx="1900000" cy="7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items</a:t>
            </a:r>
            <a:endParaRPr sz="20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08400" y="3000000"/>
            <a:ext cx="20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cxnSp>
        <p:nvCxnSpPr>
          <p:cNvPr id="8" name="Connector 7"/>
          <p:cNvCxnSpPr/>
          <p:nvPr/>
        </p:nvCxnSpPr>
        <p:spPr>
          <a:xfrm>
            <a:off x="2558400" y="2600000"/>
            <a:ext cx="1300000" cy="7000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558400" y="3500000"/>
            <a:ext cx="1300000" cy="6000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77600" y="2250000"/>
            <a:ext cx="1900000" cy="7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numbers</a:t>
            </a:r>
            <a:endParaRPr sz="20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77600" y="2250000"/>
            <a:ext cx="2000000" cy="7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cxnSp>
        <p:nvCxnSpPr>
          <p:cNvPr id="12" name="Connector 11"/>
          <p:cNvCxnSpPr/>
          <p:nvPr/>
        </p:nvCxnSpPr>
        <p:spPr>
          <a:xfrm>
            <a:off x="8227600" y="2600000"/>
            <a:ext cx="13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77600" y="3750000"/>
            <a:ext cx="1900000" cy="7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items</a:t>
            </a:r>
            <a:endParaRPr sz="2000">
              <a:solidFill>
                <a:schemeClr val="bg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77600" y="3750000"/>
            <a:ext cx="2000000" cy="7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200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cxnSp>
        <p:nvCxnSpPr>
          <p:cNvPr id="15" name="Connector 14"/>
          <p:cNvCxnSpPr/>
          <p:nvPr/>
        </p:nvCxnSpPr>
        <p:spPr>
          <a:xfrm>
            <a:off x="8227600" y="4100000"/>
            <a:ext cx="130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8400" y="5139015"/>
            <a:ext cx="109692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accent1"/>
                </a:solidFill>
              </a:rPr>
              <a:t>присваивание меняет только локальное имя</a:t>
            </a:r>
            <a:endParaRPr sz="2800">
              <a:solidFill>
                <a:schemeClr val="accent1"/>
              </a:solidFill>
            </a:endParaRPr>
          </a:p>
        </p:txBody>
      </p:sp>
      <p:sp>
        <p:nvSpPr>
          <p:cNvPr id="17" name="Замещающий 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Способы передачи</a:t>
            </a:r>
            <a:endParaRPr lang="ru-RU" altLang="ru-RU" sz="4445"/>
          </a:p>
        </p:txBody>
      </p:sp>
      <p:sp>
        <p:nvSpPr>
          <p:cNvPr id="3" name="Rounded Rectangle 2"/>
          <p:cNvSpPr/>
          <p:nvPr/>
        </p:nvSpPr>
        <p:spPr>
          <a:xfrm>
            <a:off x="6084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по позиции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116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по имени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4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соответствие по порядку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первый аргумент — первому параметру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116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соответствие по имени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порядок не важен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7" name="Замещающий 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Способы передачи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965" y="1658620"/>
            <a:ext cx="11234420" cy="4154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city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city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2400"/>
          </a:p>
          <a:p>
            <a:pPr algn="l"/>
            <a:endParaRPr sz="24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по позиции</a:t>
            </a:r>
            <a:endParaRPr sz="24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по имени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city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</a:t>
            </a:r>
            <a:r>
              <a:rPr lang="ru-RU"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смешанный подход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"Alice"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city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"Paris"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age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=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name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"Alice"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25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"Paris"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SyntaxError: positional argument follows keyword argument</a:t>
            </a:r>
            <a:endParaRPr sz="24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Ошибки передачи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965" y="1600200"/>
            <a:ext cx="11052810" cy="4154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missing 1 required positional argument: 'city'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"extra"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takes 3 positional arguments but 4 were given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country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"FR"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got an unexpected keyword argument 'country'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describe_user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"Bob"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city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got multiple values for argument 'name'</a:t>
            </a:r>
            <a:endParaRPr sz="24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Схема параметров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92150" y="2054225"/>
            <a:ext cx="10800080" cy="767715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function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3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lang="ru-RU"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lang="ru-RU"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/,</a:t>
            </a:r>
            <a:r>
              <a:rPr lang="ru-RU"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third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lang="ru-RU"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fourth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lang="ru-RU"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*,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fifth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lang="ru-RU"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sixth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300"/>
          </a:p>
        </p:txBody>
      </p:sp>
      <p:sp>
        <p:nvSpPr>
          <p:cNvPr id="4" name="Rounded Rectangle 3"/>
          <p:cNvSpPr/>
          <p:nvPr/>
        </p:nvSpPr>
        <p:spPr>
          <a:xfrm>
            <a:off x="693000" y="3404495"/>
            <a:ext cx="3100000" cy="110000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3000" y="3554495"/>
            <a:ext cx="135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</a:t>
            </a:r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2343000" y="3554495"/>
            <a:ext cx="135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93000" y="4604495"/>
            <a:ext cx="33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chemeClr val="accent1"/>
                </a:solidFill>
              </a:rPr>
              <a:t>только по позиции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43000" y="3554495"/>
            <a:ext cx="450000" cy="80000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/</a:t>
            </a:r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4543000" y="3404495"/>
            <a:ext cx="3100000" cy="110000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43000" y="3554495"/>
            <a:ext cx="135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third</a:t>
            </a:r>
            <a:endParaRPr sz="2000"/>
          </a:p>
        </p:txBody>
      </p:sp>
      <p:sp>
        <p:nvSpPr>
          <p:cNvPr id="11" name="Rounded Rectangle 10"/>
          <p:cNvSpPr/>
          <p:nvPr/>
        </p:nvSpPr>
        <p:spPr>
          <a:xfrm>
            <a:off x="6193000" y="3554495"/>
            <a:ext cx="135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fourth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4443000" y="4604495"/>
            <a:ext cx="33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chemeClr val="accent1"/>
                </a:solidFill>
              </a:rPr>
              <a:t>по позиции или по имени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93000" y="3554495"/>
            <a:ext cx="450000" cy="80000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endParaRPr sz="2400"/>
          </a:p>
        </p:txBody>
      </p:sp>
      <p:sp>
        <p:nvSpPr>
          <p:cNvPr id="14" name="Rounded Rectangle 13"/>
          <p:cNvSpPr/>
          <p:nvPr/>
        </p:nvSpPr>
        <p:spPr>
          <a:xfrm>
            <a:off x="8393000" y="3404495"/>
            <a:ext cx="3100000" cy="1100000"/>
          </a:xfrm>
          <a:prstGeom prst="roundRect">
            <a:avLst>
              <a:gd name="adj" fmla="val 16667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93000" y="3554495"/>
            <a:ext cx="135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fifth</a:t>
            </a:r>
            <a:endParaRPr sz="2000"/>
          </a:p>
        </p:txBody>
      </p:sp>
      <p:sp>
        <p:nvSpPr>
          <p:cNvPr id="16" name="Rounded Rectangle 15"/>
          <p:cNvSpPr/>
          <p:nvPr/>
        </p:nvSpPr>
        <p:spPr>
          <a:xfrm>
            <a:off x="10043000" y="3554495"/>
            <a:ext cx="135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sixth</a:t>
            </a:r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8293000" y="4604495"/>
            <a:ext cx="33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chemeClr val="accent1"/>
                </a:solidFill>
              </a:rPr>
              <a:t>только по имени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8" name="Замещающий номер слайда 1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Виды параметров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43000" y="1650000"/>
            <a:ext cx="33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параметры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43000" y="1650000"/>
            <a:ext cx="29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расположение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3000" y="1650000"/>
            <a:ext cx="45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передача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3000" y="2170000"/>
            <a:ext cx="33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строго позиционные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43000" y="2170000"/>
            <a:ext cx="29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до /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043000" y="2170000"/>
            <a:ext cx="45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только по позиции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3000" y="2900000"/>
            <a:ext cx="33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обычные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43000" y="2900000"/>
            <a:ext cx="29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между / и *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43000" y="2900000"/>
            <a:ext cx="45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по позиции или по имени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3000" y="3630000"/>
            <a:ext cx="33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строго именованные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43000" y="3630000"/>
            <a:ext cx="29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после *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043000" y="3630000"/>
            <a:ext cx="45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только по имени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5" name="Замещающий 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Строго позиционные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1113028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power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base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exponent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/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base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exponent</a:t>
            </a:r>
            <a:endParaRPr sz="28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power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1024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power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base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exponent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ru-RU"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Строго именованные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425575"/>
            <a:ext cx="10838180" cy="4831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create_window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width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height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resizable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200"/>
          </a:p>
          <a:p>
            <a:pPr algn="l"/>
            <a:r>
              <a:rPr sz="2200">
                <a:latin typeface="Consolas" panose="020B0609020204030204"/>
                <a:cs typeface="Consolas" panose="020B0609020204030204"/>
              </a:rPr>
              <a:t>    </a:t>
            </a:r>
            <a:r>
              <a:rPr sz="2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width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x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height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, resizable=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resizable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22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create_window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800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600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resizable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True))</a:t>
            </a:r>
            <a:endParaRPr sz="2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800x600, resizable=True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create_window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800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600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resizable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False))</a:t>
            </a:r>
            <a:endParaRPr sz="2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800x600, resizable=False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create_window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800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600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True))</a:t>
            </a:r>
            <a:endParaRPr sz="2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takes 2 positional arguments but </a:t>
            </a:r>
            <a:r>
              <a:rPr lang="ru-RU"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were given</a:t>
            </a:r>
            <a:endParaRPr sz="2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Порядок именованных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817370"/>
            <a:ext cx="10968355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connect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host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port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@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host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port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28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connect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"localhost"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port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=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5432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user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=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"admin"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admin@localhost:5432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connect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"localhost"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"admin"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port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5432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admin@localhost:5432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Оба ограничения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483360"/>
            <a:ext cx="11053445" cy="4831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build_url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scheme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host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/,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port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path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secure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22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2200">
              <a:solidFill>
                <a:schemeClr val="accent2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200"/>
          </a:p>
          <a:p>
            <a:pPr algn="l"/>
            <a:r>
              <a:rPr sz="2200">
                <a:latin typeface="Consolas" panose="020B0609020204030204"/>
                <a:cs typeface="Consolas" panose="020B0609020204030204"/>
              </a:rPr>
              <a:t>   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protocol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scheme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}{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's'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secure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else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''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2200"/>
          </a:p>
          <a:p>
            <a:pPr algn="l"/>
            <a:r>
              <a:rPr sz="2200">
                <a:latin typeface="Consolas" panose="020B0609020204030204"/>
                <a:cs typeface="Consolas" panose="020B0609020204030204"/>
              </a:rPr>
              <a:t>    </a:t>
            </a:r>
            <a:r>
              <a:rPr sz="2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protocol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://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host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port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path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22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build_url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"http"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"example.com"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80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path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"/"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secure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False))</a:t>
            </a:r>
            <a:endParaRPr sz="2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http://example.com:80/</a:t>
            </a:r>
            <a:endParaRPr sz="2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Параметр *args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1020191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show_arguments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show_arguments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(1, 2, 3)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&lt;class 'tuple'&gt;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>
                <a:sym typeface="+mn-ea"/>
              </a:rPr>
              <a:t>Параметр *args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382395"/>
            <a:ext cx="9864090" cy="4831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sum_all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total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endParaRPr sz="2800"/>
          </a:p>
          <a:p>
            <a:pPr algn="l"/>
            <a:endParaRPr sz="28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total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28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total</a:t>
            </a:r>
            <a:endParaRPr sz="28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sum_all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sum_all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sum_all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15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Один параметр со *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11109325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invalid_function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first_args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second_args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3200">
              <a:solidFill>
                <a:schemeClr val="accent2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pass</a:t>
            </a:r>
            <a:endParaRPr sz="3200">
              <a:solidFill>
                <a:schemeClr val="accent6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SyntaxError: * argument may appear only once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Параметр **kwargs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921385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show_options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kwargs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kwargs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kwargs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show_options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width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800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height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600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{'width': 800, 'height': 600}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&lt;class 'dict'&gt;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Порядок параметров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8400" y="2915000"/>
            <a:ext cx="195384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>
                <a:solidFill>
                  <a:schemeClr val="accent1"/>
                </a:solidFill>
              </a:rPr>
              <a:t>строго позиционные</a:t>
            </a:r>
            <a:endParaRPr sz="17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400" y="4355000"/>
            <a:ext cx="215384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до /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62240" y="2915000"/>
            <a:ext cx="195384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обычные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116080" y="2915000"/>
            <a:ext cx="195384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5016080" y="4355000"/>
            <a:ext cx="215384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кортеж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69920" y="2915000"/>
            <a:ext cx="195384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>
                <a:solidFill>
                  <a:schemeClr val="accent1"/>
                </a:solidFill>
              </a:rPr>
              <a:t>строго именованные</a:t>
            </a:r>
            <a:endParaRPr sz="170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69920" y="4355000"/>
            <a:ext cx="215384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после *args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23760" y="2915000"/>
            <a:ext cx="1953840" cy="1400000"/>
          </a:xfrm>
          <a:prstGeom prst="roundRect">
            <a:avLst>
              <a:gd name="adj" fmla="val 15214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kwargs</a:t>
            </a:r>
            <a:endParaRPr sz="1800"/>
          </a:p>
        </p:txBody>
      </p:sp>
      <p:sp>
        <p:nvSpPr>
          <p:cNvPr id="15" name="TextBox 14"/>
          <p:cNvSpPr txBox="1"/>
          <p:nvPr/>
        </p:nvSpPr>
        <p:spPr>
          <a:xfrm>
            <a:off x="9523760" y="4355000"/>
            <a:ext cx="215384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словарь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16" name="Замещающий номер слайда 1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9" grpId="0"/>
      <p:bldP spid="8" grpId="1" animBg="1"/>
      <p:bldP spid="9" grpId="1"/>
      <p:bldP spid="11" grpId="0" animBg="1"/>
      <p:bldP spid="12" grpId="0"/>
      <p:bldP spid="11" grpId="1" animBg="1"/>
      <p:bldP spid="12" grpId="1"/>
      <p:bldP spid="14" grpId="0" animBg="1"/>
      <p:bldP spid="15" grpId="0"/>
      <p:bldP spid="14" grpId="1" animBg="1"/>
      <p:bldP spid="15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Все виды параметров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5070601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function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positional_only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/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normal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keyword_only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kwargs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800"/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Распаковка при вызове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2303000" y="2145000"/>
            <a:ext cx="3600000" cy="10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2203000" y="3185000"/>
            <a:ext cx="38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итерируемый объект</a:t>
            </a:r>
            <a:endParaRPr sz="1600">
              <a:solidFill>
                <a:schemeClr val="accent1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953000" y="2645000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283000" y="2145000"/>
            <a:ext cx="3600000" cy="10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1800"/>
          </a:p>
        </p:txBody>
      </p:sp>
      <p:sp>
        <p:nvSpPr>
          <p:cNvPr id="7" name="TextBox 6"/>
          <p:cNvSpPr txBox="1"/>
          <p:nvPr/>
        </p:nvSpPr>
        <p:spPr>
          <a:xfrm>
            <a:off x="6183000" y="3185000"/>
            <a:ext cx="38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позиционные аргументы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303000" y="4085000"/>
            <a:ext cx="3600000" cy="10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1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"first"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"second"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2203000" y="5125000"/>
            <a:ext cx="38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словарь</a:t>
            </a:r>
            <a:endParaRPr sz="1600">
              <a:solidFill>
                <a:schemeClr val="accent1"/>
              </a:solidFill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953000" y="4585000"/>
            <a:ext cx="2800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83000" y="4085000"/>
            <a:ext cx="3600000" cy="10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1800"/>
          </a:p>
        </p:txBody>
      </p:sp>
      <p:sp>
        <p:nvSpPr>
          <p:cNvPr id="12" name="TextBox 11"/>
          <p:cNvSpPr txBox="1"/>
          <p:nvPr/>
        </p:nvSpPr>
        <p:spPr>
          <a:xfrm>
            <a:off x="6183000" y="5125000"/>
            <a:ext cx="38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</a:rPr>
              <a:t>именованные аргументы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13" name="Замещающий 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/>
      <p:bldP spid="3" grpId="1" animBg="1"/>
      <p:bldP spid="4" grpId="1"/>
      <p:bldP spid="6" grpId="1" animBg="1"/>
      <p:bldP spid="7" grpId="1"/>
      <p:bldP spid="9" grpId="0"/>
      <p:bldP spid="8" grpId="0" animBg="1"/>
      <p:bldP spid="11" grpId="0" animBg="1"/>
      <p:bldP spid="12" grpId="0"/>
      <p:bldP spid="9" grpId="1"/>
      <p:bldP spid="8" grpId="1" animBg="1"/>
      <p:bldP spid="11" grpId="1" animBg="1"/>
      <p:bldP spid="12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Распаковка *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11109325" cy="4092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add_three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third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60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</a:rPr>
              <a:t>    </a:t>
            </a:r>
            <a:r>
              <a:rPr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third</a:t>
            </a:r>
            <a:endParaRPr sz="26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600"/>
          </a:p>
          <a:p>
            <a:pPr algn="l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add_three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6 -</a:t>
            </a:r>
            <a:r>
              <a:rPr lang="en-US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то же, что add_three(1, 2, 3)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add_three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]))</a:t>
            </a:r>
            <a:endParaRPr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11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add_three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)))</a:t>
            </a:r>
            <a:endParaRPr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26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Распаковка **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7695" y="1600200"/>
            <a:ext cx="11078845" cy="36925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def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add_three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first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int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second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int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third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 -&gt; 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int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:</a:t>
            </a:r>
            <a:endParaRPr sz="2600"/>
          </a:p>
          <a:p>
            <a:pPr algn="l"/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    </a:t>
            </a:r>
            <a:r>
              <a:rPr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  <a:sym typeface="+mn-ea"/>
              </a:rPr>
              <a:t>return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first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 +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second</a:t>
            </a:r>
            <a:r>
              <a:rPr sz="2600">
                <a:latin typeface="Consolas" panose="020B0609020204030204"/>
                <a:cs typeface="Consolas" panose="020B0609020204030204"/>
                <a:sym typeface="+mn-ea"/>
              </a:rPr>
              <a:t> +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third</a:t>
            </a:r>
            <a:endParaRPr sz="26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6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6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"first"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"second"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"third"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add_three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6 - то же, что add_three(first=1, second=2, third=3)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add_three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"second"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"third"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12</a:t>
            </a:r>
            <a:endParaRPr sz="26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4600"/>
              <a:t>Значения по умолчанию</a:t>
            </a:r>
            <a:endParaRPr lang="ru-RU" sz="46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Значение по умолчанию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600200"/>
            <a:ext cx="10935970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4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4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punctuation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"!"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2400"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punctuation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24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400">
                <a:latin typeface="Consolas" panose="020B0609020204030204"/>
                <a:cs typeface="Consolas" panose="020B0609020204030204"/>
              </a:rPr>
              <a:t>               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Alice!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"Hi"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400">
                <a:latin typeface="Consolas" panose="020B0609020204030204"/>
                <a:cs typeface="Consolas" panose="020B0609020204030204"/>
              </a:rPr>
              <a:t>         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Hi, Alice!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punctuation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"?"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400">
                <a:latin typeface="Consolas" panose="020B0609020204030204"/>
                <a:cs typeface="Consolas" panose="020B0609020204030204"/>
              </a:rPr>
              <a:t>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Alice?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"Good morning"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Good morning, Alice.</a:t>
            </a:r>
            <a:endParaRPr sz="24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en-US" sz="4445"/>
              <a:t>Ограничения</a:t>
            </a:r>
            <a:endParaRPr lang="ru-RU" altLang="en-US" sz="4445"/>
          </a:p>
        </p:txBody>
      </p:sp>
      <p:sp>
        <p:nvSpPr>
          <p:cNvPr id="3" name="TextBox 2"/>
          <p:cNvSpPr txBox="1"/>
          <p:nvPr/>
        </p:nvSpPr>
        <p:spPr>
          <a:xfrm>
            <a:off x="608965" y="2131695"/>
            <a:ext cx="10779760" cy="2061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bad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pass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SyntaxError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Время вычисления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1421765"/>
            <a:ext cx="8270240" cy="4892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get_default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"evaluating default"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"before def"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before def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get_default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"value:"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evaluating default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"after def"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after def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Атрибут __defaults__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583055"/>
            <a:ext cx="9729470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get_default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()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-&gt;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int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"evaluating default"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  <a:sym typeface="+mn-ea"/>
              </a:rPr>
              <a:t>return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10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show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value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int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get_default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())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-&gt;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None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"value:"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value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evaluating default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show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__defaults__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(10,)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Проблема</a:t>
            </a:r>
            <a:endParaRPr lang="ru-RU" alt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965" y="1569720"/>
            <a:ext cx="10935335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[]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endParaRPr sz="28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['apple']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"pear"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['apple', 'pear']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"plum"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['apple', 'pear', 'plum']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Причина</a:t>
            </a:r>
            <a:endParaRPr lang="ru-RU" sz="4445"/>
          </a:p>
        </p:txBody>
      </p:sp>
      <p:sp>
        <p:nvSpPr>
          <p:cNvPr id="3" name="Rounded Rectangle 2"/>
          <p:cNvSpPr/>
          <p:nvPr/>
        </p:nvSpPr>
        <p:spPr>
          <a:xfrm>
            <a:off x="7000000" y="3175000"/>
            <a:ext cx="3900000" cy="1500000"/>
          </a:xfrm>
          <a:prstGeom prst="roundRect">
            <a:avLst>
              <a:gd name="adj" fmla="val 14199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800000" y="4760610"/>
            <a:ext cx="43000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один объект в __defaults__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08400" y="2465000"/>
            <a:ext cx="44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6" name="Connector 5"/>
          <p:cNvCxnSpPr/>
          <p:nvPr/>
        </p:nvCxnSpPr>
        <p:spPr>
          <a:xfrm>
            <a:off x="5558400" y="2865000"/>
            <a:ext cx="1391600" cy="10600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08400" y="3525000"/>
            <a:ext cx="44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"pear"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8" name="Connector 7"/>
          <p:cNvCxnSpPr/>
          <p:nvPr/>
        </p:nvCxnSpPr>
        <p:spPr>
          <a:xfrm>
            <a:off x="5558400" y="3925000"/>
            <a:ext cx="13916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08400" y="4585000"/>
            <a:ext cx="4400000" cy="8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"plum"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10" name="Connector 9"/>
          <p:cNvCxnSpPr/>
          <p:nvPr/>
        </p:nvCxnSpPr>
        <p:spPr>
          <a:xfrm flipV="1">
            <a:off x="5558400" y="3925000"/>
            <a:ext cx="1391600" cy="10600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Замещающий 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Причина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96085"/>
            <a:ext cx="10935868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first_result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second_result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first_result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second_result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add_item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__defaults__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(['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', '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'],)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Решение 1: None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7695" y="1600200"/>
            <a:ext cx="10782935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 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[]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endParaRPr sz="24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400">
                <a:latin typeface="Consolas" panose="020B0609020204030204"/>
                <a:cs typeface="Consolas" panose="020B0609020204030204"/>
              </a:rPr>
              <a:t>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['apple']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"pear"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400"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['pear']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"plum"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400"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['plum']</a:t>
            </a:r>
            <a:endParaRPr sz="24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Ограничения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343025"/>
            <a:ext cx="10796219" cy="50158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get_value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data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None]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0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0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0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data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   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data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000"/>
          </a:p>
          <a:p>
            <a:pPr algn="l"/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is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   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raise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KeyError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  <a:p>
            <a:pPr algn="l"/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</a:t>
            </a:r>
            <a:endParaRPr sz="2000"/>
          </a:p>
          <a:p>
            <a:pPr algn="l"/>
            <a:endParaRPr sz="2000"/>
          </a:p>
          <a:p>
            <a:pPr algn="l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user_data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000"/>
          </a:p>
          <a:p>
            <a:pPr algn="l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get_value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user_data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000">
                <a:latin typeface="Consolas" panose="020B0609020204030204"/>
                <a:cs typeface="Consolas" panose="020B0609020204030204"/>
              </a:rPr>
              <a:t>  </a:t>
            </a:r>
            <a:r>
              <a:rPr lang="ru-RU" sz="2000">
                <a:latin typeface="Consolas" panose="020B0609020204030204"/>
                <a:cs typeface="Consolas" panose="020B0609020204030204"/>
              </a:rPr>
              <a:t>     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'city'</a:t>
            </a:r>
            <a:endParaRPr sz="2000"/>
          </a:p>
          <a:p>
            <a:pPr algn="l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get_value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user_data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None))</a:t>
            </a:r>
            <a:r>
              <a:rPr sz="2000">
                <a:latin typeface="Consolas" panose="020B0609020204030204"/>
                <a:cs typeface="Consolas" panose="020B0609020204030204"/>
              </a:rPr>
              <a:t> 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'city'</a:t>
            </a:r>
            <a:endParaRPr sz="20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Решение 2: sentinel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313815"/>
            <a:ext cx="10349341" cy="5077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sentinel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object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</a:p>
          <a:p>
            <a:pPr algn="l"/>
            <a:endParaRPr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get_value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data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None]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object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sentinel</a:t>
            </a:r>
            <a:r>
              <a:rPr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object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</a:p>
          <a:p>
            <a:pPr algn="l"/>
            <a:r>
              <a:rPr>
                <a:latin typeface="Consolas" panose="020B0609020204030204"/>
                <a:cs typeface="Consolas" panose="020B0609020204030204"/>
              </a:rPr>
              <a:t>    </a:t>
            </a:r>
            <a:r>
              <a:rPr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data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</a:p>
          <a:p>
            <a:pPr algn="l"/>
            <a:r>
              <a:rPr>
                <a:latin typeface="Consolas" panose="020B0609020204030204"/>
                <a:cs typeface="Consolas" panose="020B0609020204030204"/>
              </a:rPr>
              <a:t>        </a:t>
            </a:r>
            <a:r>
              <a:rPr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data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</a:p>
          <a:p>
            <a:pPr algn="l"/>
            <a:r>
              <a:rPr>
                <a:latin typeface="Consolas" panose="020B0609020204030204"/>
                <a:cs typeface="Consolas" panose="020B0609020204030204"/>
              </a:rPr>
              <a:t>    </a:t>
            </a:r>
            <a:r>
              <a:rPr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is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sentinel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</a:p>
          <a:p>
            <a:pPr algn="l"/>
            <a:r>
              <a:rPr>
                <a:latin typeface="Consolas" panose="020B0609020204030204"/>
                <a:cs typeface="Consolas" panose="020B0609020204030204"/>
              </a:rPr>
              <a:t>        </a:t>
            </a:r>
            <a:r>
              <a:rPr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raise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KeyError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</a:p>
          <a:p>
            <a:pPr algn="l"/>
            <a:r>
              <a:rPr>
                <a:latin typeface="Consolas" panose="020B0609020204030204"/>
                <a:cs typeface="Consolas" panose="020B0609020204030204"/>
              </a:rPr>
              <a:t>    </a:t>
            </a:r>
            <a:r>
              <a:rPr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</a:t>
            </a:r>
            <a:endParaRPr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</a:p>
          <a:p>
            <a:pPr algn="l"/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user_data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None}</a:t>
            </a:r>
          </a:p>
          <a:p>
            <a:pPr algn="l"/>
            <a:r>
              <a:rPr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get_value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user_data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>
                <a:latin typeface="Consolas" panose="020B0609020204030204"/>
                <a:cs typeface="Consolas" panose="020B0609020204030204"/>
              </a:rPr>
              <a:t>  </a:t>
            </a:r>
            <a:r>
              <a:rPr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</a:t>
            </a:r>
          </a:p>
          <a:p>
            <a:pPr algn="l"/>
            <a:r>
              <a:rPr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get_value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user_data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>
                <a:latin typeface="Consolas" panose="020B0609020204030204"/>
                <a:cs typeface="Consolas" panose="020B0609020204030204"/>
              </a:rPr>
              <a:t>        </a:t>
            </a:r>
            <a:r>
              <a:rPr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'city'</a:t>
            </a: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Метаинформация</a:t>
            </a:r>
            <a:endParaRPr lang="ru-RU" sz="60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u-RU" sz="4445"/>
              <a:t>d</a:t>
            </a:r>
            <a:r>
              <a:rPr lang="ru-RU" sz="4445"/>
              <a:t>ocstring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935868" cy="26765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"""Return the square of a number."""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__doc__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Return the square of a number.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u-RU" sz="4445">
                <a:sym typeface="+mn-ea"/>
              </a:rPr>
              <a:t>d</a:t>
            </a:r>
            <a:r>
              <a:rPr lang="ru-RU" sz="4445">
                <a:sym typeface="+mn-ea"/>
              </a:rPr>
              <a:t>ocstring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935868" cy="39693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"""Return the square of a number."""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help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square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Help on function square in module __main__: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square(number: int) -&gt; int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Return the square of a number.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Комментарий </a:t>
            </a:r>
            <a:r>
              <a:rPr lang="en-US" altLang="ru-RU" sz="4445"/>
              <a:t>vs</a:t>
            </a:r>
            <a:r>
              <a:rPr lang="ru-RU" sz="4445"/>
              <a:t> docstring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1132005" y="2405225"/>
            <a:ext cx="44000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комментарий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4935" y="2379615"/>
            <a:ext cx="42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docstring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32005" y="2899615"/>
            <a:ext cx="44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игнорируется интерпретатором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4935" y="2899615"/>
            <a:ext cx="42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хранится в __doc__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32005" y="3629615"/>
            <a:ext cx="44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читает исходный код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4935" y="3629615"/>
            <a:ext cx="42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использует функцию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32005" y="4359615"/>
            <a:ext cx="44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почему и как реализовано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4935" y="4359615"/>
            <a:ext cx="4200000" cy="64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что делает функция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4" name="Замещающий 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6" grpId="1" animBg="1"/>
      <p:bldP spid="7" grpId="1" animBg="1"/>
      <p:bldP spid="9" grpId="0" animBg="1"/>
      <p:bldP spid="10" grpId="0" animBg="1"/>
      <p:bldP spid="9" grpId="1" animBg="1"/>
      <p:bldP spid="10" grpId="1" animBg="1"/>
      <p:bldP spid="12" grpId="0" animBg="1"/>
      <p:bldP spid="13" grpId="0" animBg="1"/>
      <p:bldP spid="12" grpId="1" animBg="1"/>
      <p:bldP spid="13" grpI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Многострочный docstring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499870"/>
            <a:ext cx="8163560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divide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dividend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divisor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"""Divide one number by another.</a:t>
            </a:r>
            <a:endParaRPr sz="2000"/>
          </a:p>
          <a:p>
            <a:pPr algn="l"/>
            <a:endParaRPr sz="2000"/>
          </a:p>
          <a:p>
            <a:pPr algn="l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   Args:</a:t>
            </a:r>
            <a:endParaRPr sz="2000"/>
          </a:p>
          <a:p>
            <a:pPr algn="l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       dividend: The number to be divided.</a:t>
            </a:r>
            <a:endParaRPr sz="2000"/>
          </a:p>
          <a:p>
            <a:pPr algn="l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       divisor: The number to divide by.</a:t>
            </a:r>
            <a:endParaRPr sz="2000"/>
          </a:p>
          <a:p>
            <a:pPr algn="l"/>
            <a:endParaRPr sz="2000"/>
          </a:p>
          <a:p>
            <a:pPr algn="l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   Returns:</a:t>
            </a:r>
            <a:endParaRPr sz="2000"/>
          </a:p>
          <a:p>
            <a:pPr algn="l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       The result of the division.</a:t>
            </a:r>
            <a:endParaRPr sz="2000"/>
          </a:p>
          <a:p>
            <a:pPr algn="l"/>
            <a:endParaRPr sz="2000"/>
          </a:p>
          <a:p>
            <a:pPr algn="l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   Raises:</a:t>
            </a:r>
            <a:endParaRPr sz="2000"/>
          </a:p>
          <a:p>
            <a:pPr algn="l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       ZeroDivisionError: If divisor is zero.</a:t>
            </a:r>
            <a:endParaRPr sz="2000"/>
          </a:p>
          <a:p>
            <a:pPr algn="l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   """</a:t>
            </a:r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dividend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/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divisor</a:t>
            </a:r>
            <a:endParaRPr sz="20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Аннотации типов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843280" y="1699895"/>
            <a:ext cx="10499725" cy="66675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repeat_text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</p:txBody>
      </p:sp>
      <p:sp>
        <p:nvSpPr>
          <p:cNvPr id="4" name="Rounded Rectangle 3"/>
          <p:cNvSpPr/>
          <p:nvPr/>
        </p:nvSpPr>
        <p:spPr>
          <a:xfrm>
            <a:off x="843000" y="3500000"/>
            <a:ext cx="3300000" cy="10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843000" y="4600000"/>
            <a:ext cx="33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chemeClr val="accent1"/>
                </a:solidFill>
              </a:rPr>
              <a:t>тип параметра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43000" y="3500000"/>
            <a:ext cx="3300000" cy="10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2200"/>
          </a:p>
        </p:txBody>
      </p:sp>
      <p:sp>
        <p:nvSpPr>
          <p:cNvPr id="7" name="TextBox 6"/>
          <p:cNvSpPr txBox="1"/>
          <p:nvPr/>
        </p:nvSpPr>
        <p:spPr>
          <a:xfrm>
            <a:off x="4443000" y="4600000"/>
            <a:ext cx="33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chemeClr val="accent1"/>
                </a:solidFill>
              </a:rPr>
              <a:t>тип и значение по умолчанию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3000" y="3500000"/>
            <a:ext cx="3300000" cy="1000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8043000" y="4600000"/>
            <a:ext cx="33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chemeClr val="accent1"/>
                </a:solidFill>
              </a:rPr>
              <a:t>тип результата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0" name="Замещающий 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Аннотация -&gt; None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2366645"/>
            <a:ext cx="8700770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print_header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title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title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Аннотации *args и **kwargs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537294" y="1735455"/>
            <a:ext cx="11117412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sum_all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args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args имеет тип tuple[int, ...]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build_tag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tag_name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attributes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attributes - dict[str, str]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Игнорирование аннотаций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64970"/>
            <a:ext cx="10782254" cy="39693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first_term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 </a:t>
            </a:r>
            <a:r>
              <a:rPr lang="en-US" altLang="ru-RU"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second_term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 </a:t>
            </a:r>
            <a:r>
              <a:rPr lang="en-US" altLang="ru-RU"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-&gt; </a:t>
            </a:r>
            <a:r>
              <a:rPr lang="en-US" altLang="ru-RU"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 </a:t>
            </a:r>
            <a:r>
              <a:rPr lang="en-US" altLang="ru-RU"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first_term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+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second_term</a:t>
            </a:r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5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ab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1.5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3.5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add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"a"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TypeError: 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...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Проверка аннотаций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084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интерпретатор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11600" y="1600000"/>
            <a:ext cx="5176800" cy="800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инструменты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4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не проверяет типы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хранит аннотации в __annotations__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11600" y="2650000"/>
            <a:ext cx="5176800" cy="3450000"/>
          </a:xfrm>
          <a:prstGeom prst="roundRect">
            <a:avLst>
              <a:gd name="adj" fmla="val 6173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mypy, pyright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редакторы и IDE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генераторы документации</a:t>
            </a:r>
            <a:endParaRPr sz="2200">
              <a:solidFill>
                <a:schemeClr val="accent1"/>
              </a:solidFill>
            </a:endParaRPr>
          </a:p>
          <a:p>
            <a:pPr algn="ctr"/>
            <a:r>
              <a:rPr sz="2200">
                <a:solidFill>
                  <a:schemeClr val="accent1"/>
                </a:solidFill>
              </a:rPr>
              <a:t>pydantic, FastAPI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7" name="Замещающий 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Аннотации коллекций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330" y="2179320"/>
            <a:ext cx="10758805" cy="26765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get_average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2800">
                <a:latin typeface="Consolas" panose="020B0609020204030204"/>
                <a:cs typeface="Consolas" panose="020B0609020204030204"/>
              </a:rPr>
              <a:t>...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count_words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ru-RU"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>
                <a:sym typeface="+mn-ea"/>
              </a:rPr>
              <a:t>Аннотации коллекций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782254" cy="378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get_point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2400">
                <a:latin typeface="Consolas" panose="020B0609020204030204"/>
                <a:cs typeface="Consolas" panose="020B0609020204030204"/>
              </a:rPr>
              <a:t>...</a:t>
            </a:r>
            <a:endParaRPr sz="2400"/>
          </a:p>
          <a:p>
            <a:pPr algn="l"/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get_scores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lang="ru-RU" sz="2400">
                <a:latin typeface="Consolas" panose="020B0609020204030204"/>
                <a:cs typeface="Consolas" panose="020B0609020204030204"/>
                <a:sym typeface="+mn-ea"/>
              </a:rPr>
              <a:t>...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2400">
                <a:latin typeface="Consolas" panose="020B0609020204030204"/>
                <a:cs typeface="Consolas" panose="020B0609020204030204"/>
              </a:rPr>
              <a:t>...</a:t>
            </a:r>
            <a:endParaRPr sz="2400"/>
          </a:p>
          <a:p>
            <a:pPr algn="l"/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get_unique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2400">
                <a:latin typeface="Consolas" panose="020B0609020204030204"/>
                <a:cs typeface="Consolas" panose="020B0609020204030204"/>
              </a:rPr>
              <a:t>...</a:t>
            </a:r>
            <a:endParaRPr lang="ru-RU" sz="24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Значение или None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58241" y="1612900"/>
            <a:ext cx="11075517" cy="3415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  <a:sym typeface="+mn-ea"/>
              </a:rPr>
              <a:t>from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typing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  <a:sym typeface="+mn-ea"/>
              </a:rPr>
              <a:t>import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Optional</a:t>
            </a:r>
            <a:endParaRPr sz="2400"/>
          </a:p>
          <a:p>
            <a:pPr algn="l"/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find_index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items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list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target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 -&gt;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Optional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:</a:t>
            </a:r>
            <a:endParaRPr sz="2400"/>
          </a:p>
          <a:p>
            <a:pPr algn="l"/>
            <a:r>
              <a:rPr 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sz="2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find_index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target</a:t>
            </a:r>
            <a:r>
              <a:rPr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|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sz="24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ru-RU" sz="2400"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ru-RU" sz="24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Объединение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58241" y="1600200"/>
            <a:ext cx="11075517" cy="3415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from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typing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import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Union</a:t>
            </a:r>
            <a:endParaRPr sz="2400"/>
          </a:p>
          <a:p>
            <a:pPr algn="l"/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to_number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ru-RU" sz="24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lang="ru-RU" sz="24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to_number_old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Union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ru-RU" sz="24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Тип Any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400" y="2096770"/>
            <a:ext cx="10740359" cy="2553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from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typing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import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Any</a:t>
            </a:r>
            <a:endParaRPr sz="3200"/>
          </a:p>
          <a:p>
            <a:pPr algn="l"/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describe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Any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3200">
                <a:latin typeface="Consolas" panose="020B0609020204030204"/>
                <a:cs typeface="Consolas" panose="020B0609020204030204"/>
              </a:rPr>
              <a:t>...</a:t>
            </a:r>
            <a:endParaRPr lang="ru-RU" sz="32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Callable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551940"/>
            <a:ext cx="9290685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from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typing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import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Callable</a:t>
            </a:r>
            <a:endParaRPr sz="3200"/>
          </a:p>
          <a:p>
            <a:pPr algn="l"/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apply_twice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function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Callable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[[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3200">
              <a:solidFill>
                <a:schemeClr val="accent2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3200">
                <a:latin typeface="Consolas" panose="020B0609020204030204"/>
                <a:cs typeface="Consolas" panose="020B0609020204030204"/>
              </a:rPr>
              <a:t>...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Literal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400" y="2353310"/>
            <a:ext cx="10740359" cy="224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from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typing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import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Literal</a:t>
            </a:r>
            <a:endParaRPr sz="2800"/>
          </a:p>
          <a:p>
            <a:pPr algn="l"/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open_file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mode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Literal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5200"/>
              <a:t>Функции как объекты</a:t>
            </a:r>
            <a:endParaRPr lang="ru-RU" sz="52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Тип функции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400" y="2018030"/>
            <a:ext cx="8980779" cy="3046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32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'function'&gt;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Атрибуты функции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614675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__name__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square - имя функции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__doc__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 - docstring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__defaults__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 - значения по умолчанию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__annotations__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{'number': &lt;class 'int'&gt;, 'return': &lt;class 'int'&gt;}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Функции и переменные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600200"/>
            <a:ext cx="10488990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32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calculate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calculate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16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16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calculate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Функции в коллекциях</a:t>
            </a:r>
            <a:endParaRPr lang="ru-RU" sz="4445"/>
          </a:p>
        </p:txBody>
      </p:sp>
      <p:sp>
        <p:nvSpPr>
          <p:cNvPr id="3" name="TextBox 2"/>
          <p:cNvSpPr txBox="1"/>
          <p:nvPr/>
        </p:nvSpPr>
        <p:spPr>
          <a:xfrm>
            <a:off x="608400" y="1517650"/>
            <a:ext cx="839425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28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1680"/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cube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28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1680"/>
          </a:p>
          <a:p>
            <a:pPr algn="l"/>
            <a:endParaRPr sz="168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functions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cube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abs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endParaRPr sz="1680"/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function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functions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function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__name__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function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</p:txBody>
      </p:sp>
      <p:sp>
        <p:nvSpPr>
          <p:cNvPr id="6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Функция как аргумент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400" y="1522095"/>
            <a:ext cx="10488990" cy="4707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from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typing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import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Callable</a:t>
            </a:r>
            <a:endParaRPr sz="2000"/>
          </a:p>
          <a:p>
            <a:pPr algn="l"/>
            <a:endParaRPr sz="2000"/>
          </a:p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apply_to_all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function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Callable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[[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20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000">
                <a:latin typeface="Consolas" panose="020B0609020204030204"/>
                <a:cs typeface="Consolas" panose="020B0609020204030204"/>
                <a:sym typeface="+mn-ea"/>
              </a:rPr>
              <a:t>,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  <a:sym typeface="+mn-ea"/>
              </a:rPr>
              <a:t>return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   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function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number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lang="ru-RU"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  <a:sym typeface="+mn-ea"/>
              </a:rPr>
              <a:t>for</a:t>
            </a:r>
            <a:r>
              <a:rPr sz="20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number</a:t>
            </a:r>
            <a:r>
              <a:rPr sz="20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in</a:t>
            </a:r>
            <a:r>
              <a:rPr sz="20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numbers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000"/>
          </a:p>
          <a:p>
            <a:pPr algn="l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000"/>
          </a:p>
          <a:p>
            <a:pPr algn="l"/>
            <a:r>
              <a:rPr sz="2000">
                <a:latin typeface="Consolas" panose="020B0609020204030204"/>
                <a:cs typeface="Consolas" panose="020B0609020204030204"/>
              </a:rPr>
              <a:t>   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endParaRPr sz="20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000"/>
          </a:p>
          <a:p>
            <a:pPr algn="l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apply_to_all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square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000">
                <a:latin typeface="Consolas" panose="020B0609020204030204"/>
                <a:cs typeface="Consolas" panose="020B0609020204030204"/>
              </a:rPr>
              <a:t> 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4, 9]</a:t>
            </a:r>
            <a:endParaRPr sz="2000"/>
          </a:p>
          <a:p>
            <a:pPr algn="l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apply_to_all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abs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000">
                <a:latin typeface="Consolas" panose="020B0609020204030204"/>
                <a:cs typeface="Consolas" panose="020B0609020204030204"/>
              </a:rPr>
              <a:t>  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3]</a:t>
            </a:r>
            <a:endParaRPr sz="20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Возврат функции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1483360"/>
            <a:ext cx="11262995" cy="4831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from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typing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import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Callable</a:t>
            </a:r>
            <a:endParaRPr sz="2800">
              <a:solidFill>
                <a:schemeClr val="accent2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make_greeter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Callable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-&gt;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"Hello,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!"</a:t>
            </a:r>
            <a:endParaRPr sz="28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greet</a:t>
            </a:r>
            <a:endParaRPr sz="28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make_greeter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Alice!</a:t>
            </a:r>
            <a:endParaRPr sz="2800"/>
          </a:p>
        </p:txBody>
      </p:sp>
      <p:sp>
        <p:nvSpPr>
          <p:cNvPr id="4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065" y="2772410"/>
            <a:ext cx="10389870" cy="1313180"/>
          </a:xfrm>
        </p:spPr>
        <p:txBody>
          <a:bodyPr>
            <a:normAutofit fontScale="90000"/>
          </a:bodyPr>
          <a:lstStyle/>
          <a:p>
            <a:r>
              <a:rPr lang="ru-RU"/>
              <a:t>Спасибо за внимание!</a:t>
            </a:r>
            <a:endParaRPr lang="ru-RU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python-dep">
      <a:dk1>
        <a:srgbClr val="000000"/>
      </a:dk1>
      <a:lt1>
        <a:srgbClr val="FFFFFF"/>
      </a:lt1>
      <a:dk2>
        <a:srgbClr val="AFABAB"/>
      </a:dk2>
      <a:lt2>
        <a:srgbClr val="E7E6E6"/>
      </a:lt2>
      <a:accent1>
        <a:srgbClr val="0070C0"/>
      </a:accent1>
      <a:accent2>
        <a:srgbClr val="00B0F0"/>
      </a:accent2>
      <a:accent3>
        <a:srgbClr val="C09D29"/>
      </a:accent3>
      <a:accent4>
        <a:srgbClr val="7CB683"/>
      </a:accent4>
      <a:accent5>
        <a:srgbClr val="A05900"/>
      </a:accent5>
      <a:accent6>
        <a:srgbClr val="7030A0"/>
      </a:accent6>
      <a:hlink>
        <a:srgbClr val="0070C0"/>
      </a:hlink>
      <a:folHlink>
        <a:srgbClr val="7030A0"/>
      </a:folHlink>
    </a:clrScheme>
    <a:fontScheme name="python-department">
      <a:majorFont>
        <a:latin typeface="Arial Black"/>
        <a:ea typeface="Arial"/>
        <a:cs typeface=""/>
      </a:majorFont>
      <a:minorFont>
        <a:latin typeface="Arial Black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18179</Words>
  <Application>WPS Presentation</Application>
  <PresentationFormat>Широкоэкранный</PresentationFormat>
  <Paragraphs>1494</Paragraphs>
  <Slides>103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7" baseType="lpstr">
      <vt:lpstr>Arial</vt:lpstr>
      <vt:lpstr>SimSun</vt:lpstr>
      <vt:lpstr>Wingdings</vt:lpstr>
      <vt:lpstr>Wingdings</vt:lpstr>
      <vt:lpstr>Arial Black</vt:lpstr>
      <vt:lpstr>Tahoma</vt:lpstr>
      <vt:lpstr>Arial</vt:lpstr>
      <vt:lpstr>Segoe UI</vt:lpstr>
      <vt:lpstr>Consolas</vt:lpstr>
      <vt:lpstr>Microsoft YaHei</vt:lpstr>
      <vt:lpstr>Arial Unicode MS</vt:lpstr>
      <vt:lpstr>Calibri</vt:lpstr>
      <vt:lpstr>Consolas</vt:lpstr>
      <vt:lpstr>WPS</vt:lpstr>
      <vt:lpstr>Функции</vt:lpstr>
      <vt:lpstr>Определение и вызов</vt:lpstr>
      <vt:lpstr>Зачем нужны функции</vt:lpstr>
      <vt:lpstr>Повторяющийся код</vt:lpstr>
      <vt:lpstr>Вынос кода в функцию</vt:lpstr>
      <vt:lpstr>Синтаксис определения</vt:lpstr>
      <vt:lpstr>Список параметров</vt:lpstr>
      <vt:lpstr>Параметры и аргументы</vt:lpstr>
      <vt:lpstr>Тело функции</vt:lpstr>
      <vt:lpstr>Заглушка pass</vt:lpstr>
      <vt:lpstr>Вызов и объект-функция</vt:lpstr>
      <vt:lpstr>Порядок вызова</vt:lpstr>
      <vt:lpstr>Порядок выполнения</vt:lpstr>
      <vt:lpstr>def и вызов</vt:lpstr>
      <vt:lpstr>Порядок определения</vt:lpstr>
      <vt:lpstr>Инструкция return</vt:lpstr>
      <vt:lpstr>Код после return</vt:lpstr>
      <vt:lpstr>Ранний возврат</vt:lpstr>
      <vt:lpstr>return внутри цикла</vt:lpstr>
      <vt:lpstr>Когда возвращается None</vt:lpstr>
      <vt:lpstr>Возврат None</vt:lpstr>
      <vt:lpstr>print и return</vt:lpstr>
      <vt:lpstr>Несколько значений</vt:lpstr>
      <vt:lpstr>Возврат нескольких значений</vt:lpstr>
      <vt:lpstr>Пространства имен</vt:lpstr>
      <vt:lpstr>Пространство имен</vt:lpstr>
      <vt:lpstr>Функция globals()</vt:lpstr>
      <vt:lpstr>Виды пространств имен</vt:lpstr>
      <vt:lpstr>Независимые имена</vt:lpstr>
      <vt:lpstr>Два пространства имен</vt:lpstr>
      <vt:lpstr>Вызовы функции</vt:lpstr>
      <vt:lpstr>Глобальные имена</vt:lpstr>
      <vt:lpstr>Локальные имена</vt:lpstr>
      <vt:lpstr>Одинаковые имена</vt:lpstr>
      <vt:lpstr>Затенение</vt:lpstr>
      <vt:lpstr>Поиск имен: LEGB</vt:lpstr>
      <vt:lpstr>Построение таблицы</vt:lpstr>
      <vt:lpstr>Классификация имен</vt:lpstr>
      <vt:lpstr>Символьная таблица</vt:lpstr>
      <vt:lpstr>Правило LEGB</vt:lpstr>
      <vt:lpstr>PowerPoint 演示文稿</vt:lpstr>
      <vt:lpstr>Чтение и присваивание</vt:lpstr>
      <vt:lpstr>Передача аргументов</vt:lpstr>
      <vt:lpstr>Проверка через id()</vt:lpstr>
      <vt:lpstr>Параметр — новое имя</vt:lpstr>
      <vt:lpstr>Модели передачи</vt:lpstr>
      <vt:lpstr>Изменение списка</vt:lpstr>
      <vt:lpstr>Присваивание параметру</vt:lpstr>
      <vt:lpstr>До и после присваивания</vt:lpstr>
      <vt:lpstr>Позиция и имя</vt:lpstr>
      <vt:lpstr>Способы передачи</vt:lpstr>
      <vt:lpstr>Ошибки вызова</vt:lpstr>
      <vt:lpstr>Схема параметров</vt:lpstr>
      <vt:lpstr>Виды параметров</vt:lpstr>
      <vt:lpstr>Строго позиционные</vt:lpstr>
      <vt:lpstr>Строго именованные</vt:lpstr>
      <vt:lpstr>Порядок именованных</vt:lpstr>
      <vt:lpstr>Оба ограничения</vt:lpstr>
      <vt:lpstr>Параметр *args</vt:lpstr>
      <vt:lpstr>Сумма любых чисел</vt:lpstr>
      <vt:lpstr>Один параметр со *</vt:lpstr>
      <vt:lpstr>Параметр **kwargs</vt:lpstr>
      <vt:lpstr>Порядок параметров</vt:lpstr>
      <vt:lpstr>Все виды параметров</vt:lpstr>
      <vt:lpstr>Распаковка при вызове</vt:lpstr>
      <vt:lpstr>Распаковка *sequence</vt:lpstr>
      <vt:lpstr>Распаковка **mapping</vt:lpstr>
      <vt:lpstr>Значения по умолчанию</vt:lpstr>
      <vt:lpstr>Значение по умолчанию</vt:lpstr>
      <vt:lpstr>Обязательные первыми</vt:lpstr>
      <vt:lpstr>Вычисление default</vt:lpstr>
      <vt:lpstr>Атрибут __defaults__</vt:lpstr>
      <vt:lpstr>Накопление результатов</vt:lpstr>
      <vt:lpstr>Общий список</vt:lpstr>
      <vt:lpstr>Один и тот же список</vt:lpstr>
      <vt:lpstr>None вместо списка</vt:lpstr>
      <vt:lpstr>None как значение</vt:lpstr>
      <vt:lpstr>Маркер sentinel</vt:lpstr>
      <vt:lpstr>Docstring</vt:lpstr>
      <vt:lpstr>Docstring функции</vt:lpstr>
      <vt:lpstr>Docstring</vt:lpstr>
      <vt:lpstr>Комментарий и docstring</vt:lpstr>
      <vt:lpstr>Многострочный docstring</vt:lpstr>
      <vt:lpstr>Элементы аннотаций</vt:lpstr>
      <vt:lpstr>Аннотация -&gt; None</vt:lpstr>
      <vt:lpstr>Аннотации *args, **kwargs</vt:lpstr>
      <vt:lpstr>Неверные типы</vt:lpstr>
      <vt:lpstr>Проверка аннотаций</vt:lpstr>
      <vt:lpstr>Типы коллекций (1/2)</vt:lpstr>
      <vt:lpstr>Типы коллекций (2/2)</vt:lpstr>
      <vt:lpstr>Значение или None</vt:lpstr>
      <vt:lpstr>Объединение Union</vt:lpstr>
      <vt:lpstr>Тип Any</vt:lpstr>
      <vt:lpstr>Тип Callable</vt:lpstr>
      <vt:lpstr>Тип Literal</vt:lpstr>
      <vt:lpstr>Функции как объекты</vt:lpstr>
      <vt:lpstr>Тип функции</vt:lpstr>
      <vt:lpstr>Атрибуты функции</vt:lpstr>
      <vt:lpstr>Второе имя функции</vt:lpstr>
      <vt:lpstr>Функции в списке</vt:lpstr>
      <vt:lpstr>Функция как аргумент</vt:lpstr>
      <vt:lpstr>Возврат функции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Функции</dc:title>
  <dc:creator>Michail</dc:creator>
  <cp:lastModifiedBy>Michail</cp:lastModifiedBy>
  <cp:revision>1872</cp:revision>
  <dcterms:created xsi:type="dcterms:W3CDTF">2026-09-01T18:40:00Z</dcterms:created>
  <dcterms:modified xsi:type="dcterms:W3CDTF">2026-10-17T00:18:03Z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3BB3359F712143D3A2563F2707420178_13</vt:lpwstr>
  </property>
</Properties>
</file>